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7556500" cy="10693400"/>
  <p:notesSz cx="6858000" cy="9144000"/>
  <p:embeddedFontLst>
    <p:embeddedFont>
      <p:font typeface="Helvetica World" panose="020B0604020202020204" charset="-128"/>
      <p:regular r:id="rId11"/>
    </p:embeddedFont>
    <p:embeddedFont>
      <p:font typeface="Helvetica World Bold" panose="020B0604020202020204" charset="-128"/>
      <p:regular r:id="rId12"/>
    </p:embeddedFont>
    <p:embeddedFont>
      <p:font typeface="Helvetica World Bold Italics" panose="020B0604020202020204" charset="-128"/>
      <p:regular r:id="rId13"/>
    </p:embeddedFont>
    <p:embeddedFont>
      <p:font typeface="Arimo"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90" d="100"/>
          <a:sy n="90" d="100"/>
        </p:scale>
        <p:origin x="1685" y="-24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Box 2"/>
          <p:cNvSpPr txBox="1"/>
          <p:nvPr/>
        </p:nvSpPr>
        <p:spPr>
          <a:xfrm>
            <a:off x="1712004" y="3480121"/>
            <a:ext cx="4218699" cy="699630"/>
          </a:xfrm>
          <a:prstGeom prst="rect">
            <a:avLst/>
          </a:prstGeom>
        </p:spPr>
        <p:txBody>
          <a:bodyPr lIns="0" tIns="0" rIns="0" bIns="0" rtlCol="0" anchor="t">
            <a:spAutoFit/>
          </a:bodyPr>
          <a:lstStyle/>
          <a:p>
            <a:pPr algn="l">
              <a:lnSpc>
                <a:spcPts val="3919"/>
              </a:lnSpc>
            </a:pPr>
            <a:r>
              <a:rPr lang="en-US" sz="2799" b="1">
                <a:solidFill>
                  <a:srgbClr val="FFFFFF"/>
                </a:solidFill>
                <a:latin typeface="Helvetica World Bold"/>
                <a:ea typeface="Helvetica World Bold"/>
                <a:cs typeface="Helvetica World Bold"/>
                <a:sym typeface="Helvetica World Bold"/>
              </a:rPr>
              <a:t>S&amp;P; 500 Sektor ETF'leri</a:t>
            </a:r>
          </a:p>
        </p:txBody>
      </p:sp>
      <p:sp>
        <p:nvSpPr>
          <p:cNvPr id="3" name="TextBox 3"/>
          <p:cNvSpPr txBox="1"/>
          <p:nvPr/>
        </p:nvSpPr>
        <p:spPr>
          <a:xfrm>
            <a:off x="3810733" y="4052811"/>
            <a:ext cx="79229" cy="552431"/>
          </a:xfrm>
          <a:prstGeom prst="rect">
            <a:avLst/>
          </a:prstGeom>
        </p:spPr>
        <p:txBody>
          <a:bodyPr lIns="0" tIns="0" rIns="0" bIns="0" rtlCol="0" anchor="t">
            <a:spAutoFit/>
          </a:bodyPr>
          <a:lstStyle/>
          <a:p>
            <a:pPr algn="l">
              <a:lnSpc>
                <a:spcPts val="3079"/>
              </a:lnSpc>
            </a:pPr>
            <a:r>
              <a:rPr lang="en-US" sz="2200" b="1">
                <a:solidFill>
                  <a:srgbClr val="93C5FD"/>
                </a:solidFill>
                <a:latin typeface="Helvetica World Bold"/>
                <a:ea typeface="Helvetica World Bold"/>
                <a:cs typeface="Helvetica World Bold"/>
                <a:sym typeface="Helvetica World Bold"/>
              </a:rPr>
              <a:t> </a:t>
            </a:r>
          </a:p>
        </p:txBody>
      </p:sp>
      <p:sp>
        <p:nvSpPr>
          <p:cNvPr id="4" name="TextBox 4"/>
          <p:cNvSpPr txBox="1"/>
          <p:nvPr/>
        </p:nvSpPr>
        <p:spPr>
          <a:xfrm>
            <a:off x="1683658" y="4052811"/>
            <a:ext cx="4276525" cy="412750"/>
          </a:xfrm>
          <a:prstGeom prst="rect">
            <a:avLst/>
          </a:prstGeom>
        </p:spPr>
        <p:txBody>
          <a:bodyPr lIns="0" tIns="0" rIns="0" bIns="0" rtlCol="0" anchor="t">
            <a:spAutoFit/>
          </a:bodyPr>
          <a:lstStyle/>
          <a:p>
            <a:pPr algn="l">
              <a:lnSpc>
                <a:spcPts val="3079"/>
              </a:lnSpc>
            </a:pPr>
            <a:r>
              <a:rPr lang="en-US" sz="2200" b="1">
                <a:solidFill>
                  <a:srgbClr val="93C5FD"/>
                </a:solidFill>
                <a:latin typeface="Helvetica World Bold"/>
                <a:ea typeface="Helvetica World Bold"/>
                <a:cs typeface="Helvetica World Bold"/>
                <a:sym typeface="Helvetica World Bold"/>
              </a:rPr>
              <a:t>Olay</a:t>
            </a:r>
            <a:r>
              <a:rPr lang="en-US" sz="2200" b="1">
                <a:solidFill>
                  <a:srgbClr val="FFFFFF"/>
                </a:solidFill>
                <a:latin typeface="Helvetica World Bold"/>
                <a:ea typeface="Helvetica World Bold"/>
                <a:cs typeface="Helvetica World Bold"/>
                <a:sym typeface="Helvetica World Bold"/>
              </a:rPr>
              <a:t> </a:t>
            </a:r>
            <a:r>
              <a:rPr lang="en-US" sz="2200" b="1">
                <a:solidFill>
                  <a:srgbClr val="93C5FD"/>
                </a:solidFill>
                <a:latin typeface="Helvetica World Bold"/>
                <a:ea typeface="Helvetica World Bold"/>
                <a:cs typeface="Helvetica World Bold"/>
                <a:sym typeface="Helvetica World Bold"/>
              </a:rPr>
              <a:t>Calismasi</a:t>
            </a:r>
          </a:p>
        </p:txBody>
      </p:sp>
      <p:sp>
        <p:nvSpPr>
          <p:cNvPr id="5" name="TextBox 5"/>
          <p:cNvSpPr txBox="1"/>
          <p:nvPr/>
        </p:nvSpPr>
        <p:spPr>
          <a:xfrm>
            <a:off x="3023035" y="7553954"/>
            <a:ext cx="1544212" cy="259623"/>
          </a:xfrm>
          <a:prstGeom prst="rect">
            <a:avLst/>
          </a:prstGeom>
        </p:spPr>
        <p:txBody>
          <a:bodyPr lIns="0" tIns="0" rIns="0" bIns="0" rtlCol="0" anchor="t">
            <a:spAutoFit/>
          </a:bodyPr>
          <a:lstStyle/>
          <a:p>
            <a:pPr algn="l">
              <a:lnSpc>
                <a:spcPts val="1539"/>
              </a:lnSpc>
            </a:pPr>
            <a:r>
              <a:rPr lang="en-US" sz="1100">
                <a:solidFill>
                  <a:srgbClr val="94A3B8"/>
                </a:solidFill>
                <a:latin typeface="Helvetica World"/>
                <a:ea typeface="Helvetica World"/>
                <a:cs typeface="Helvetica World"/>
                <a:sym typeface="Helvetica World"/>
              </a:rPr>
              <a:t>Hazirlayan: Berat Ozkan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93023" y="1256576"/>
            <a:ext cx="5973947" cy="6353"/>
            <a:chOff x="0" y="0"/>
            <a:chExt cx="5973953" cy="6350"/>
          </a:xfrm>
        </p:grpSpPr>
        <p:sp>
          <p:nvSpPr>
            <p:cNvPr id="5" name="Freeform 5"/>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sp>
        <p:nvSpPr>
          <p:cNvPr id="6" name="TextBox 6"/>
          <p:cNvSpPr txBox="1"/>
          <p:nvPr/>
        </p:nvSpPr>
        <p:spPr>
          <a:xfrm>
            <a:off x="796204" y="658863"/>
            <a:ext cx="1281665" cy="324961"/>
          </a:xfrm>
          <a:prstGeom prst="rect">
            <a:avLst/>
          </a:prstGeom>
        </p:spPr>
        <p:txBody>
          <a:bodyPr lIns="0" tIns="0" rIns="0" bIns="0" rtlCol="0" anchor="t">
            <a:spAutoFit/>
          </a:bodyPr>
          <a:lstStyle/>
          <a:p>
            <a:pPr algn="l">
              <a:lnSpc>
                <a:spcPts val="2800"/>
              </a:lnSpc>
            </a:pPr>
            <a:r>
              <a:rPr lang="tr-TR" sz="2000" b="1" dirty="0">
                <a:solidFill>
                  <a:srgbClr val="1B2A4A"/>
                </a:solidFill>
                <a:latin typeface="Helvetica World Bold"/>
                <a:ea typeface="Helvetica World Bold"/>
                <a:cs typeface="Helvetica World Bold"/>
                <a:sym typeface="Helvetica World Bold"/>
              </a:rPr>
              <a:t>İ</a:t>
            </a:r>
            <a:r>
              <a:rPr lang="en-US" sz="2000" b="1" dirty="0" err="1">
                <a:solidFill>
                  <a:srgbClr val="1B2A4A"/>
                </a:solidFill>
                <a:latin typeface="Helvetica World Bold"/>
                <a:ea typeface="Helvetica World Bold"/>
                <a:cs typeface="Helvetica World Bold"/>
                <a:sym typeface="Helvetica World Bold"/>
              </a:rPr>
              <a:t>cindekiler</a:t>
            </a:r>
            <a:endParaRPr lang="en-US" sz="2000" b="1" dirty="0">
              <a:solidFill>
                <a:srgbClr val="1B2A4A"/>
              </a:solidFill>
              <a:latin typeface="Helvetica World Bold"/>
              <a:ea typeface="Helvetica World Bold"/>
              <a:cs typeface="Helvetica World Bold"/>
              <a:sym typeface="Helvetica World Bold"/>
            </a:endParaRPr>
          </a:p>
        </p:txBody>
      </p:sp>
      <p:sp>
        <p:nvSpPr>
          <p:cNvPr id="7" name="TextBox 7"/>
          <p:cNvSpPr txBox="1"/>
          <p:nvPr/>
        </p:nvSpPr>
        <p:spPr>
          <a:xfrm>
            <a:off x="906351" y="1151382"/>
            <a:ext cx="129645" cy="2806970"/>
          </a:xfrm>
          <a:prstGeom prst="rect">
            <a:avLst/>
          </a:prstGeom>
        </p:spPr>
        <p:txBody>
          <a:bodyPr lIns="0" tIns="0" rIns="0" bIns="0" rtlCol="0" anchor="t">
            <a:spAutoFit/>
          </a:bodyPr>
          <a:lstStyle/>
          <a:p>
            <a:pPr algn="just">
              <a:lnSpc>
                <a:spcPts val="4300"/>
              </a:lnSpc>
            </a:pPr>
            <a:r>
              <a:rPr lang="en-US" sz="1800" b="1">
                <a:solidFill>
                  <a:srgbClr val="3B82F6"/>
                </a:solidFill>
                <a:latin typeface="Helvetica World Bold"/>
                <a:ea typeface="Helvetica World Bold"/>
                <a:cs typeface="Helvetica World Bold"/>
                <a:sym typeface="Helvetica World Bold"/>
              </a:rPr>
              <a:t>1 2 3 4 5</a:t>
            </a:r>
          </a:p>
        </p:txBody>
      </p:sp>
      <p:sp>
        <p:nvSpPr>
          <p:cNvPr id="8" name="TextBox 8"/>
          <p:cNvSpPr txBox="1"/>
          <p:nvPr/>
        </p:nvSpPr>
        <p:spPr>
          <a:xfrm>
            <a:off x="1300201" y="3556454"/>
            <a:ext cx="575939" cy="162480"/>
          </a:xfrm>
          <a:prstGeom prst="rect">
            <a:avLst/>
          </a:prstGeom>
        </p:spPr>
        <p:txBody>
          <a:bodyPr lIns="0" tIns="0" rIns="0" bIns="0" rtlCol="0" anchor="t">
            <a:spAutoFit/>
          </a:bodyPr>
          <a:lstStyle/>
          <a:p>
            <a:pPr algn="l">
              <a:lnSpc>
                <a:spcPts val="1400"/>
              </a:lnSpc>
            </a:pPr>
            <a:r>
              <a:rPr lang="en-US" sz="1000" b="1" dirty="0">
                <a:solidFill>
                  <a:srgbClr val="1E293B"/>
                </a:solidFill>
                <a:latin typeface="Helvetica World Bold"/>
                <a:ea typeface="Helvetica World Bold"/>
                <a:cs typeface="Helvetica World Bold"/>
                <a:sym typeface="Helvetica World Bold"/>
              </a:rPr>
              <a:t>Kapan</a:t>
            </a:r>
            <a:r>
              <a:rPr lang="tr-TR" sz="1000" b="1" dirty="0" err="1">
                <a:solidFill>
                  <a:srgbClr val="1E293B"/>
                </a:solidFill>
                <a:latin typeface="Helvetica World Bold"/>
                <a:ea typeface="Helvetica World Bold"/>
                <a:cs typeface="Helvetica World Bold"/>
                <a:sym typeface="Helvetica World Bold"/>
              </a:rPr>
              <a:t>ış</a:t>
            </a:r>
            <a:endParaRPr lang="en-US" sz="1000" b="1" dirty="0">
              <a:solidFill>
                <a:srgbClr val="1E293B"/>
              </a:solidFill>
              <a:latin typeface="Helvetica World Bold"/>
              <a:ea typeface="Helvetica World Bold"/>
              <a:cs typeface="Helvetica World Bold"/>
              <a:sym typeface="Helvetica World Bold"/>
            </a:endParaRPr>
          </a:p>
        </p:txBody>
      </p:sp>
      <p:sp>
        <p:nvSpPr>
          <p:cNvPr id="9" name="TextBox 9"/>
          <p:cNvSpPr txBox="1"/>
          <p:nvPr/>
        </p:nvSpPr>
        <p:spPr>
          <a:xfrm>
            <a:off x="1622069" y="3821039"/>
            <a:ext cx="28813" cy="177556"/>
          </a:xfrm>
          <a:prstGeom prst="rect">
            <a:avLst/>
          </a:prstGeom>
        </p:spPr>
        <p:txBody>
          <a:bodyPr lIns="0" tIns="0" rIns="0" bIns="0" rtlCol="0" anchor="t">
            <a:spAutoFit/>
          </a:bodyPr>
          <a:lstStyle/>
          <a:p>
            <a:pPr algn="l">
              <a:lnSpc>
                <a:spcPts val="1120"/>
              </a:lnSpc>
            </a:pPr>
            <a:r>
              <a:rPr lang="en-US" sz="800">
                <a:solidFill>
                  <a:srgbClr val="64748B"/>
                </a:solidFill>
                <a:latin typeface="Helvetica World"/>
                <a:ea typeface="Helvetica World"/>
                <a:cs typeface="Helvetica World"/>
                <a:sym typeface="Helvetica World"/>
              </a:rPr>
              <a:t> </a:t>
            </a:r>
          </a:p>
        </p:txBody>
      </p:sp>
      <p:sp>
        <p:nvSpPr>
          <p:cNvPr id="10" name="TextBox 10"/>
          <p:cNvSpPr txBox="1"/>
          <p:nvPr/>
        </p:nvSpPr>
        <p:spPr>
          <a:xfrm>
            <a:off x="1300201" y="2464251"/>
            <a:ext cx="827894" cy="258032"/>
          </a:xfrm>
          <a:prstGeom prst="rect">
            <a:avLst/>
          </a:prstGeom>
        </p:spPr>
        <p:txBody>
          <a:bodyPr lIns="0" tIns="0" rIns="0" bIns="0" rtlCol="0" anchor="t">
            <a:spAutoFit/>
          </a:bodyPr>
          <a:lstStyle/>
          <a:p>
            <a:pPr algn="l">
              <a:lnSpc>
                <a:spcPts val="1400"/>
              </a:lnSpc>
            </a:pPr>
            <a:r>
              <a:rPr lang="en-US" sz="1000" b="1">
                <a:solidFill>
                  <a:srgbClr val="1E293B"/>
                </a:solidFill>
                <a:latin typeface="Helvetica World Bold"/>
                <a:ea typeface="Helvetica World Bold"/>
                <a:cs typeface="Helvetica World Bold"/>
                <a:sym typeface="Helvetica World Bold"/>
              </a:rPr>
              <a:t>Gorsel Analiz</a:t>
            </a:r>
          </a:p>
        </p:txBody>
      </p:sp>
      <p:sp>
        <p:nvSpPr>
          <p:cNvPr id="11" name="TextBox 11"/>
          <p:cNvSpPr txBox="1"/>
          <p:nvPr/>
        </p:nvSpPr>
        <p:spPr>
          <a:xfrm>
            <a:off x="1356693" y="2728846"/>
            <a:ext cx="28813" cy="177556"/>
          </a:xfrm>
          <a:prstGeom prst="rect">
            <a:avLst/>
          </a:prstGeom>
        </p:spPr>
        <p:txBody>
          <a:bodyPr lIns="0" tIns="0" rIns="0" bIns="0" rtlCol="0" anchor="t">
            <a:spAutoFit/>
          </a:bodyPr>
          <a:lstStyle/>
          <a:p>
            <a:pPr algn="l">
              <a:lnSpc>
                <a:spcPts val="1120"/>
              </a:lnSpc>
            </a:pPr>
            <a:r>
              <a:rPr lang="en-US" sz="800">
                <a:solidFill>
                  <a:srgbClr val="64748B"/>
                </a:solidFill>
                <a:latin typeface="Helvetica World"/>
                <a:ea typeface="Helvetica World"/>
                <a:cs typeface="Helvetica World"/>
                <a:sym typeface="Helvetica World"/>
              </a:rPr>
              <a:t> </a:t>
            </a:r>
          </a:p>
        </p:txBody>
      </p:sp>
      <p:sp>
        <p:nvSpPr>
          <p:cNvPr id="12" name="TextBox 12"/>
          <p:cNvSpPr txBox="1"/>
          <p:nvPr/>
        </p:nvSpPr>
        <p:spPr>
          <a:xfrm>
            <a:off x="1300201" y="3010357"/>
            <a:ext cx="1086974" cy="258032"/>
          </a:xfrm>
          <a:prstGeom prst="rect">
            <a:avLst/>
          </a:prstGeom>
        </p:spPr>
        <p:txBody>
          <a:bodyPr lIns="0" tIns="0" rIns="0" bIns="0" rtlCol="0" anchor="t">
            <a:spAutoFit/>
          </a:bodyPr>
          <a:lstStyle/>
          <a:p>
            <a:pPr algn="l">
              <a:lnSpc>
                <a:spcPts val="1400"/>
              </a:lnSpc>
            </a:pPr>
            <a:r>
              <a:rPr lang="en-US" sz="1000" b="1">
                <a:solidFill>
                  <a:srgbClr val="1E293B"/>
                </a:solidFill>
                <a:latin typeface="Helvetica World Bold"/>
                <a:ea typeface="Helvetica World Bold"/>
                <a:cs typeface="Helvetica World Bold"/>
                <a:sym typeface="Helvetica World Bold"/>
              </a:rPr>
              <a:t>Tablo ve Bulgular</a:t>
            </a:r>
          </a:p>
        </p:txBody>
      </p:sp>
      <p:sp>
        <p:nvSpPr>
          <p:cNvPr id="13" name="TextBox 13"/>
          <p:cNvSpPr txBox="1"/>
          <p:nvPr/>
        </p:nvSpPr>
        <p:spPr>
          <a:xfrm>
            <a:off x="1548613" y="3274943"/>
            <a:ext cx="28813" cy="177556"/>
          </a:xfrm>
          <a:prstGeom prst="rect">
            <a:avLst/>
          </a:prstGeom>
        </p:spPr>
        <p:txBody>
          <a:bodyPr lIns="0" tIns="0" rIns="0" bIns="0" rtlCol="0" anchor="t">
            <a:spAutoFit/>
          </a:bodyPr>
          <a:lstStyle/>
          <a:p>
            <a:pPr algn="l">
              <a:lnSpc>
                <a:spcPts val="1120"/>
              </a:lnSpc>
            </a:pPr>
            <a:r>
              <a:rPr lang="en-US" sz="800">
                <a:solidFill>
                  <a:srgbClr val="64748B"/>
                </a:solidFill>
                <a:latin typeface="Helvetica World"/>
                <a:ea typeface="Helvetica World"/>
                <a:cs typeface="Helvetica World"/>
                <a:sym typeface="Helvetica World"/>
              </a:rPr>
              <a:t> </a:t>
            </a:r>
          </a:p>
        </p:txBody>
      </p:sp>
      <p:sp>
        <p:nvSpPr>
          <p:cNvPr id="14" name="TextBox 14"/>
          <p:cNvSpPr txBox="1"/>
          <p:nvPr/>
        </p:nvSpPr>
        <p:spPr>
          <a:xfrm>
            <a:off x="1300201" y="1918154"/>
            <a:ext cx="1108605" cy="258032"/>
          </a:xfrm>
          <a:prstGeom prst="rect">
            <a:avLst/>
          </a:prstGeom>
        </p:spPr>
        <p:txBody>
          <a:bodyPr lIns="0" tIns="0" rIns="0" bIns="0" rtlCol="0" anchor="t">
            <a:spAutoFit/>
          </a:bodyPr>
          <a:lstStyle/>
          <a:p>
            <a:pPr algn="l">
              <a:lnSpc>
                <a:spcPts val="1400"/>
              </a:lnSpc>
            </a:pPr>
            <a:r>
              <a:rPr lang="en-US" sz="1000" b="1">
                <a:solidFill>
                  <a:srgbClr val="1E293B"/>
                </a:solidFill>
                <a:latin typeface="Helvetica World Bold"/>
                <a:ea typeface="Helvetica World Bold"/>
                <a:cs typeface="Helvetica World Bold"/>
                <a:sym typeface="Helvetica World Bold"/>
              </a:rPr>
              <a:t>Metodoloji ve Veri</a:t>
            </a:r>
          </a:p>
        </p:txBody>
      </p:sp>
      <p:sp>
        <p:nvSpPr>
          <p:cNvPr id="15" name="TextBox 15"/>
          <p:cNvSpPr txBox="1"/>
          <p:nvPr/>
        </p:nvSpPr>
        <p:spPr>
          <a:xfrm>
            <a:off x="1413177" y="2182739"/>
            <a:ext cx="28813" cy="177556"/>
          </a:xfrm>
          <a:prstGeom prst="rect">
            <a:avLst/>
          </a:prstGeom>
        </p:spPr>
        <p:txBody>
          <a:bodyPr lIns="0" tIns="0" rIns="0" bIns="0" rtlCol="0" anchor="t">
            <a:spAutoFit/>
          </a:bodyPr>
          <a:lstStyle/>
          <a:p>
            <a:pPr algn="l">
              <a:lnSpc>
                <a:spcPts val="1120"/>
              </a:lnSpc>
            </a:pPr>
            <a:r>
              <a:rPr lang="en-US" sz="800">
                <a:solidFill>
                  <a:srgbClr val="64748B"/>
                </a:solidFill>
                <a:latin typeface="Helvetica World"/>
                <a:ea typeface="Helvetica World"/>
                <a:cs typeface="Helvetica World"/>
                <a:sym typeface="Helvetica World"/>
              </a:rPr>
              <a:t> </a:t>
            </a:r>
          </a:p>
        </p:txBody>
      </p:sp>
      <p:sp>
        <p:nvSpPr>
          <p:cNvPr id="16" name="TextBox 16"/>
          <p:cNvSpPr txBox="1"/>
          <p:nvPr/>
        </p:nvSpPr>
        <p:spPr>
          <a:xfrm>
            <a:off x="1300201" y="1372057"/>
            <a:ext cx="1612516" cy="258032"/>
          </a:xfrm>
          <a:prstGeom prst="rect">
            <a:avLst/>
          </a:prstGeom>
        </p:spPr>
        <p:txBody>
          <a:bodyPr lIns="0" tIns="0" rIns="0" bIns="0" rtlCol="0" anchor="t">
            <a:spAutoFit/>
          </a:bodyPr>
          <a:lstStyle/>
          <a:p>
            <a:pPr algn="l">
              <a:lnSpc>
                <a:spcPts val="1400"/>
              </a:lnSpc>
            </a:pPr>
            <a:r>
              <a:rPr lang="en-US" sz="1000" b="1">
                <a:solidFill>
                  <a:srgbClr val="1E293B"/>
                </a:solidFill>
                <a:latin typeface="Helvetica World Bold"/>
                <a:ea typeface="Helvetica World Bold"/>
                <a:cs typeface="Helvetica World Bold"/>
                <a:sym typeface="Helvetica World Bold"/>
              </a:rPr>
              <a:t>Finansal Terimler Sozlugu</a:t>
            </a:r>
          </a:p>
        </p:txBody>
      </p:sp>
      <p:sp>
        <p:nvSpPr>
          <p:cNvPr id="17" name="TextBox 17"/>
          <p:cNvSpPr txBox="1"/>
          <p:nvPr/>
        </p:nvSpPr>
        <p:spPr>
          <a:xfrm>
            <a:off x="1509093" y="1636643"/>
            <a:ext cx="28813" cy="177556"/>
          </a:xfrm>
          <a:prstGeom prst="rect">
            <a:avLst/>
          </a:prstGeom>
        </p:spPr>
        <p:txBody>
          <a:bodyPr lIns="0" tIns="0" rIns="0" bIns="0" rtlCol="0" anchor="t">
            <a:spAutoFit/>
          </a:bodyPr>
          <a:lstStyle/>
          <a:p>
            <a:pPr algn="l">
              <a:lnSpc>
                <a:spcPts val="1120"/>
              </a:lnSpc>
            </a:pPr>
            <a:r>
              <a:rPr lang="en-US" sz="800">
                <a:solidFill>
                  <a:srgbClr val="64748B"/>
                </a:solidFill>
                <a:latin typeface="Helvetica World"/>
                <a:ea typeface="Helvetica World"/>
                <a:cs typeface="Helvetica World"/>
                <a:sym typeface="Helvetica World"/>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93023" y="1256576"/>
            <a:ext cx="5973947" cy="6353"/>
            <a:chOff x="0" y="0"/>
            <a:chExt cx="5973953" cy="6350"/>
          </a:xfrm>
        </p:grpSpPr>
        <p:sp>
          <p:nvSpPr>
            <p:cNvPr id="5" name="Freeform 5"/>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sp>
        <p:nvSpPr>
          <p:cNvPr id="6" name="Freeform 6"/>
          <p:cNvSpPr/>
          <p:nvPr/>
        </p:nvSpPr>
        <p:spPr>
          <a:xfrm>
            <a:off x="726348" y="1748695"/>
            <a:ext cx="6107297" cy="673103"/>
          </a:xfrm>
          <a:custGeom>
            <a:avLst/>
            <a:gdLst/>
            <a:ahLst/>
            <a:cxnLst/>
            <a:rect l="l" t="t" r="r" b="b"/>
            <a:pathLst>
              <a:path w="6107297" h="673103">
                <a:moveTo>
                  <a:pt x="0" y="0"/>
                </a:moveTo>
                <a:lnTo>
                  <a:pt x="6107297" y="0"/>
                </a:lnTo>
                <a:lnTo>
                  <a:pt x="6107297" y="673103"/>
                </a:lnTo>
                <a:lnTo>
                  <a:pt x="0" y="6731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 name="Freeform 7"/>
          <p:cNvSpPr/>
          <p:nvPr/>
        </p:nvSpPr>
        <p:spPr>
          <a:xfrm>
            <a:off x="726348" y="2739295"/>
            <a:ext cx="6107297" cy="838200"/>
          </a:xfrm>
          <a:custGeom>
            <a:avLst/>
            <a:gdLst/>
            <a:ahLst/>
            <a:cxnLst/>
            <a:rect l="l" t="t" r="r" b="b"/>
            <a:pathLst>
              <a:path w="6107297" h="838200">
                <a:moveTo>
                  <a:pt x="0" y="0"/>
                </a:moveTo>
                <a:lnTo>
                  <a:pt x="6107297" y="0"/>
                </a:lnTo>
                <a:lnTo>
                  <a:pt x="6107297" y="838200"/>
                </a:lnTo>
                <a:lnTo>
                  <a:pt x="0" y="8382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 name="Freeform 8"/>
          <p:cNvSpPr/>
          <p:nvPr/>
        </p:nvSpPr>
        <p:spPr>
          <a:xfrm>
            <a:off x="726348" y="3895001"/>
            <a:ext cx="6107297" cy="838200"/>
          </a:xfrm>
          <a:custGeom>
            <a:avLst/>
            <a:gdLst/>
            <a:ahLst/>
            <a:cxnLst/>
            <a:rect l="l" t="t" r="r" b="b"/>
            <a:pathLst>
              <a:path w="6107297" h="838200">
                <a:moveTo>
                  <a:pt x="0" y="0"/>
                </a:moveTo>
                <a:lnTo>
                  <a:pt x="6107297" y="0"/>
                </a:lnTo>
                <a:lnTo>
                  <a:pt x="6107297" y="838200"/>
                </a:lnTo>
                <a:lnTo>
                  <a:pt x="0" y="8382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 name="TextBox 9"/>
          <p:cNvSpPr txBox="1"/>
          <p:nvPr/>
        </p:nvSpPr>
        <p:spPr>
          <a:xfrm>
            <a:off x="796204" y="658863"/>
            <a:ext cx="3513125" cy="497014"/>
          </a:xfrm>
          <a:prstGeom prst="rect">
            <a:avLst/>
          </a:prstGeom>
        </p:spPr>
        <p:txBody>
          <a:bodyPr lIns="0" tIns="0" rIns="0" bIns="0" rtlCol="0" anchor="t">
            <a:spAutoFit/>
          </a:bodyPr>
          <a:lstStyle/>
          <a:p>
            <a:pPr algn="l">
              <a:lnSpc>
                <a:spcPts val="2800"/>
              </a:lnSpc>
            </a:pPr>
            <a:r>
              <a:rPr lang="en-US" sz="2000" b="1">
                <a:solidFill>
                  <a:srgbClr val="1B2A4A"/>
                </a:solidFill>
                <a:latin typeface="Helvetica World Bold"/>
                <a:ea typeface="Helvetica World Bold"/>
                <a:cs typeface="Helvetica World Bold"/>
                <a:sym typeface="Helvetica World Bold"/>
              </a:rPr>
              <a:t>1. Finansal Terimler Sozlugu</a:t>
            </a:r>
          </a:p>
        </p:txBody>
      </p:sp>
      <p:sp>
        <p:nvSpPr>
          <p:cNvPr id="10" name="TextBox 10"/>
          <p:cNvSpPr txBox="1"/>
          <p:nvPr/>
        </p:nvSpPr>
        <p:spPr>
          <a:xfrm>
            <a:off x="796204" y="4772082"/>
            <a:ext cx="1071191"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Volatilite Soku</a:t>
            </a:r>
          </a:p>
        </p:txBody>
      </p:sp>
      <p:sp>
        <p:nvSpPr>
          <p:cNvPr id="11" name="TextBox 11"/>
          <p:cNvSpPr txBox="1"/>
          <p:nvPr/>
        </p:nvSpPr>
        <p:spPr>
          <a:xfrm>
            <a:off x="796204" y="2460679"/>
            <a:ext cx="1450953"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Anormal Getiri (AR)</a:t>
            </a:r>
          </a:p>
        </p:txBody>
      </p:sp>
      <p:sp>
        <p:nvSpPr>
          <p:cNvPr id="12" name="TextBox 12"/>
          <p:cNvSpPr txBox="1"/>
          <p:nvPr/>
        </p:nvSpPr>
        <p:spPr>
          <a:xfrm>
            <a:off x="796204" y="1470079"/>
            <a:ext cx="2151088"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Olay Calismasi (Event Study)</a:t>
            </a:r>
          </a:p>
        </p:txBody>
      </p:sp>
      <p:sp>
        <p:nvSpPr>
          <p:cNvPr id="13" name="TextBox 13"/>
          <p:cNvSpPr txBox="1"/>
          <p:nvPr/>
        </p:nvSpPr>
        <p:spPr>
          <a:xfrm>
            <a:off x="796204" y="3616385"/>
            <a:ext cx="2323167"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Kumulatif Anormal Getiri (CAR)</a:t>
            </a:r>
          </a:p>
        </p:txBody>
      </p:sp>
      <p:sp>
        <p:nvSpPr>
          <p:cNvPr id="14" name="TextBox 14"/>
          <p:cNvSpPr txBox="1"/>
          <p:nvPr/>
        </p:nvSpPr>
        <p:spPr>
          <a:xfrm>
            <a:off x="923201" y="1878625"/>
            <a:ext cx="5827871" cy="373190"/>
          </a:xfrm>
          <a:prstGeom prst="rect">
            <a:avLst/>
          </a:prstGeom>
        </p:spPr>
        <p:txBody>
          <a:bodyPr lIns="0" tIns="0" rIns="0" bIns="0" rtlCol="0" anchor="t">
            <a:spAutoFit/>
          </a:bodyPr>
          <a:lstStyle/>
          <a:p>
            <a:pPr algn="l">
              <a:lnSpc>
                <a:spcPts val="1299"/>
              </a:lnSpc>
            </a:pPr>
            <a:r>
              <a:rPr lang="en-US" sz="900" spc="11">
                <a:solidFill>
                  <a:srgbClr val="475569"/>
                </a:solidFill>
                <a:latin typeface="Helvetica World"/>
                <a:ea typeface="Helvetica World"/>
                <a:cs typeface="Helvetica World"/>
                <a:sym typeface="Helvetica World"/>
              </a:rPr>
              <a:t>Belirli bir olayin (secim, savas, pandemi vb.) finansal varliklarin fiyatlari uzerindeki etkisini olcen istatistiksel bir yontemdir. Bir nevi piyasanin rontgenini cekmek gibidir -- ama yalnizca belirli bir sok aninda.</a:t>
            </a:r>
          </a:p>
        </p:txBody>
      </p:sp>
      <p:sp>
        <p:nvSpPr>
          <p:cNvPr id="15" name="TextBox 15"/>
          <p:cNvSpPr txBox="1"/>
          <p:nvPr/>
        </p:nvSpPr>
        <p:spPr>
          <a:xfrm>
            <a:off x="923201" y="2869225"/>
            <a:ext cx="5827871" cy="538286"/>
          </a:xfrm>
          <a:prstGeom prst="rect">
            <a:avLst/>
          </a:prstGeom>
        </p:spPr>
        <p:txBody>
          <a:bodyPr lIns="0" tIns="0" rIns="0" bIns="0" rtlCol="0" anchor="t">
            <a:spAutoFit/>
          </a:bodyPr>
          <a:lstStyle/>
          <a:p>
            <a:pPr algn="just">
              <a:lnSpc>
                <a:spcPts val="1299"/>
              </a:lnSpc>
            </a:pPr>
            <a:r>
              <a:rPr lang="en-US" sz="900" spc="8">
                <a:solidFill>
                  <a:srgbClr val="475569"/>
                </a:solidFill>
                <a:latin typeface="Helvetica World"/>
                <a:ea typeface="Helvetica World"/>
                <a:cs typeface="Helvetica World"/>
                <a:sym typeface="Helvetica World"/>
              </a:rPr>
              <a:t>Bir hissenin veya sektorun belirli bir gunde 'normalde' kazanacaginin otesinde (veya altinda) elde ettigi getiridir. Hesaplama: </a:t>
            </a:r>
            <a:r>
              <a:rPr lang="en-US" sz="900" b="1" spc="8">
                <a:solidFill>
                  <a:srgbClr val="475569"/>
                </a:solidFill>
                <a:latin typeface="Helvetica World Bold"/>
                <a:ea typeface="Helvetica World Bold"/>
                <a:cs typeface="Helvetica World Bold"/>
                <a:sym typeface="Helvetica World Bold"/>
              </a:rPr>
              <a:t>AR = Sektor Getirisi - SPY Getirisi</a:t>
            </a:r>
            <a:r>
              <a:rPr lang="en-US" sz="900" spc="8">
                <a:solidFill>
                  <a:srgbClr val="475569"/>
                </a:solidFill>
                <a:latin typeface="Helvetica World"/>
                <a:ea typeface="Helvetica World"/>
                <a:cs typeface="Helvetica World"/>
                <a:sym typeface="Helvetica World"/>
              </a:rPr>
              <a:t>. SPY, piyasanin genel hareketini temsil eder. Eger SPY %2 dusmus, enerji %5 dusmusse, enerjinin AR'si -%3'tur -- yani piyasanin otesinde ekstra kayip.</a:t>
            </a:r>
          </a:p>
        </p:txBody>
      </p:sp>
      <p:sp>
        <p:nvSpPr>
          <p:cNvPr id="16" name="TextBox 16"/>
          <p:cNvSpPr txBox="1"/>
          <p:nvPr/>
        </p:nvSpPr>
        <p:spPr>
          <a:xfrm>
            <a:off x="923201" y="4024922"/>
            <a:ext cx="5827871" cy="538286"/>
          </a:xfrm>
          <a:prstGeom prst="rect">
            <a:avLst/>
          </a:prstGeom>
        </p:spPr>
        <p:txBody>
          <a:bodyPr lIns="0" tIns="0" rIns="0" bIns="0" rtlCol="0" anchor="t">
            <a:spAutoFit/>
          </a:bodyPr>
          <a:lstStyle/>
          <a:p>
            <a:pPr algn="just">
              <a:lnSpc>
                <a:spcPts val="1299"/>
              </a:lnSpc>
            </a:pPr>
            <a:r>
              <a:rPr lang="en-US" sz="900" spc="6">
                <a:solidFill>
                  <a:srgbClr val="475569"/>
                </a:solidFill>
                <a:latin typeface="Helvetica World"/>
                <a:ea typeface="Helvetica World"/>
                <a:cs typeface="Helvetica World"/>
                <a:sym typeface="Helvetica World"/>
              </a:rPr>
              <a:t>Gunluk AR'lerin belirli bir pencere boyunca toplanmis halidir. Neden? Cunku bir olay tek gunde sindirilmeyebilir. Ornegin CAR[-3,+3], olaydan 3 gun once + olay gunu + 3 gun sonrasi toplam 7 gunluk birikimli anormal getiriyi gosterir.</a:t>
            </a:r>
          </a:p>
        </p:txBody>
      </p:sp>
      <p:sp>
        <p:nvSpPr>
          <p:cNvPr id="17" name="TextBox 17"/>
          <p:cNvSpPr txBox="1"/>
          <p:nvPr/>
        </p:nvSpPr>
        <p:spPr>
          <a:xfrm>
            <a:off x="923201" y="5180619"/>
            <a:ext cx="5827871" cy="538286"/>
          </a:xfrm>
          <a:prstGeom prst="rect">
            <a:avLst/>
          </a:prstGeom>
        </p:spPr>
        <p:txBody>
          <a:bodyPr lIns="0" tIns="0" rIns="0" bIns="0" rtlCol="0" anchor="t">
            <a:spAutoFit/>
          </a:bodyPr>
          <a:lstStyle/>
          <a:p>
            <a:pPr algn="just">
              <a:lnSpc>
                <a:spcPts val="1299"/>
              </a:lnSpc>
            </a:pPr>
            <a:r>
              <a:rPr lang="en-US" sz="900">
                <a:solidFill>
                  <a:srgbClr val="475569"/>
                </a:solidFill>
                <a:latin typeface="Helvetica World"/>
                <a:ea typeface="Helvetica World"/>
                <a:cs typeface="Helvetica World"/>
                <a:sym typeface="Helvetica World"/>
              </a:rPr>
              <a:t>Olay civarinda fiyat dalgalanmasinin (volatilitenin) ne kadar arttigini gosteren olcumdur. 10 gunluk hareketli standart sapma ile hesaplanir. Bir olay getiriyi belirli bir yone itmese bile belirsizligi artirabilir -- bu da volatilite soku olarak ortaya cikar.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13327" y="2183673"/>
            <a:ext cx="5533349" cy="1809750"/>
          </a:xfrm>
          <a:custGeom>
            <a:avLst/>
            <a:gdLst/>
            <a:ahLst/>
            <a:cxnLst/>
            <a:rect l="l" t="t" r="r" b="b"/>
            <a:pathLst>
              <a:path w="5533349" h="1809750">
                <a:moveTo>
                  <a:pt x="0" y="0"/>
                </a:moveTo>
                <a:lnTo>
                  <a:pt x="5533348" y="0"/>
                </a:lnTo>
                <a:lnTo>
                  <a:pt x="5533348" y="1809750"/>
                </a:lnTo>
                <a:lnTo>
                  <a:pt x="0" y="18097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 name="Freeform 3"/>
          <p:cNvSpPr/>
          <p:nvPr/>
        </p:nvSpPr>
        <p:spPr>
          <a:xfrm>
            <a:off x="1013327" y="4787170"/>
            <a:ext cx="5533349" cy="2927347"/>
          </a:xfrm>
          <a:custGeom>
            <a:avLst/>
            <a:gdLst/>
            <a:ahLst/>
            <a:cxnLst/>
            <a:rect l="l" t="t" r="r" b="b"/>
            <a:pathLst>
              <a:path w="5533349" h="2927347">
                <a:moveTo>
                  <a:pt x="0" y="0"/>
                </a:moveTo>
                <a:lnTo>
                  <a:pt x="5533348" y="0"/>
                </a:lnTo>
                <a:lnTo>
                  <a:pt x="5533348" y="2927347"/>
                </a:lnTo>
                <a:lnTo>
                  <a:pt x="0" y="29273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grpSp>
        <p:nvGrpSpPr>
          <p:cNvPr id="4" name="Group 4"/>
          <p:cNvGrpSpPr/>
          <p:nvPr/>
        </p:nvGrpSpPr>
        <p:grpSpPr>
          <a:xfrm>
            <a:off x="720004" y="580301"/>
            <a:ext cx="6120003" cy="25403"/>
            <a:chOff x="0" y="0"/>
            <a:chExt cx="6120003" cy="25400"/>
          </a:xfrm>
        </p:grpSpPr>
        <p:sp>
          <p:nvSpPr>
            <p:cNvPr id="5" name="Freeform 5"/>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6" name="Group 6"/>
          <p:cNvGrpSpPr/>
          <p:nvPr/>
        </p:nvGrpSpPr>
        <p:grpSpPr>
          <a:xfrm>
            <a:off x="793023" y="1256576"/>
            <a:ext cx="5973947" cy="6353"/>
            <a:chOff x="0" y="0"/>
            <a:chExt cx="5973953" cy="6350"/>
          </a:xfrm>
        </p:grpSpPr>
        <p:sp>
          <p:nvSpPr>
            <p:cNvPr id="7" name="Freeform 7"/>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sp>
        <p:nvSpPr>
          <p:cNvPr id="8" name="Freeform 8"/>
          <p:cNvSpPr/>
          <p:nvPr/>
        </p:nvSpPr>
        <p:spPr>
          <a:xfrm>
            <a:off x="726348" y="8505101"/>
            <a:ext cx="6107297" cy="1079497"/>
          </a:xfrm>
          <a:custGeom>
            <a:avLst/>
            <a:gdLst/>
            <a:ahLst/>
            <a:cxnLst/>
            <a:rect l="l" t="t" r="r" b="b"/>
            <a:pathLst>
              <a:path w="6107297" h="1079497">
                <a:moveTo>
                  <a:pt x="0" y="0"/>
                </a:moveTo>
                <a:lnTo>
                  <a:pt x="6107297" y="0"/>
                </a:lnTo>
                <a:lnTo>
                  <a:pt x="6107297" y="1079497"/>
                </a:lnTo>
                <a:lnTo>
                  <a:pt x="0" y="10794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 name="TextBox 9"/>
          <p:cNvSpPr txBox="1"/>
          <p:nvPr/>
        </p:nvSpPr>
        <p:spPr>
          <a:xfrm>
            <a:off x="796204" y="658863"/>
            <a:ext cx="2505304" cy="666115"/>
          </a:xfrm>
          <a:prstGeom prst="rect">
            <a:avLst/>
          </a:prstGeom>
        </p:spPr>
        <p:txBody>
          <a:bodyPr lIns="0" tIns="0" rIns="0" bIns="0" rtlCol="0" anchor="t">
            <a:spAutoFit/>
          </a:bodyPr>
          <a:lstStyle/>
          <a:p>
            <a:pPr algn="l">
              <a:lnSpc>
                <a:spcPts val="2800"/>
              </a:lnSpc>
            </a:pPr>
            <a:r>
              <a:rPr lang="en-US" sz="2000" b="1">
                <a:solidFill>
                  <a:srgbClr val="1B2A4A"/>
                </a:solidFill>
                <a:latin typeface="Helvetica World Bold"/>
                <a:ea typeface="Helvetica World Bold"/>
                <a:cs typeface="Helvetica World Bold"/>
                <a:sym typeface="Helvetica World Bold"/>
              </a:rPr>
              <a:t>2. Metodoloji ve Veri</a:t>
            </a:r>
          </a:p>
          <a:p>
            <a:pPr algn="l">
              <a:lnSpc>
                <a:spcPts val="2100"/>
              </a:lnSpc>
            </a:pPr>
            <a:r>
              <a:rPr lang="en-US" sz="1500" b="1">
                <a:solidFill>
                  <a:srgbClr val="2C3E6B"/>
                </a:solidFill>
                <a:latin typeface="Helvetica World Bold"/>
                <a:ea typeface="Helvetica World Bold"/>
                <a:cs typeface="Helvetica World Bold"/>
                <a:sym typeface="Helvetica World Bold"/>
              </a:rPr>
              <a:t>2.1 İncelenen Olaylar</a:t>
            </a:r>
          </a:p>
        </p:txBody>
      </p:sp>
      <p:sp>
        <p:nvSpPr>
          <p:cNvPr id="10" name="TextBox 10"/>
          <p:cNvSpPr txBox="1"/>
          <p:nvPr/>
        </p:nvSpPr>
        <p:spPr>
          <a:xfrm>
            <a:off x="796204" y="7840123"/>
            <a:ext cx="1847107" cy="382286"/>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2.3 Olay Pencereleri</a:t>
            </a:r>
          </a:p>
        </p:txBody>
      </p:sp>
      <p:sp>
        <p:nvSpPr>
          <p:cNvPr id="11" name="TextBox 11"/>
          <p:cNvSpPr txBox="1"/>
          <p:nvPr/>
        </p:nvSpPr>
        <p:spPr>
          <a:xfrm>
            <a:off x="951395" y="8254698"/>
            <a:ext cx="36014"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 </a:t>
            </a:r>
          </a:p>
        </p:txBody>
      </p:sp>
      <p:sp>
        <p:nvSpPr>
          <p:cNvPr id="12" name="TextBox 12"/>
          <p:cNvSpPr txBox="1"/>
          <p:nvPr/>
        </p:nvSpPr>
        <p:spPr>
          <a:xfrm>
            <a:off x="951519" y="1739598"/>
            <a:ext cx="36014"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 </a:t>
            </a:r>
          </a:p>
        </p:txBody>
      </p:sp>
      <p:sp>
        <p:nvSpPr>
          <p:cNvPr id="13" name="TextBox 13"/>
          <p:cNvSpPr txBox="1"/>
          <p:nvPr/>
        </p:nvSpPr>
        <p:spPr>
          <a:xfrm>
            <a:off x="796204" y="4119020"/>
            <a:ext cx="2430237" cy="382286"/>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2.2 Sektor ve Varlik Evreni</a:t>
            </a:r>
          </a:p>
        </p:txBody>
      </p:sp>
      <p:sp>
        <p:nvSpPr>
          <p:cNvPr id="14" name="TextBox 14"/>
          <p:cNvSpPr txBox="1"/>
          <p:nvPr/>
        </p:nvSpPr>
        <p:spPr>
          <a:xfrm>
            <a:off x="937422" y="4533595"/>
            <a:ext cx="36014"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 </a:t>
            </a:r>
          </a:p>
        </p:txBody>
      </p:sp>
      <p:sp>
        <p:nvSpPr>
          <p:cNvPr id="15" name="TextBox 15"/>
          <p:cNvSpPr txBox="1"/>
          <p:nvPr/>
        </p:nvSpPr>
        <p:spPr>
          <a:xfrm>
            <a:off x="796204" y="4533595"/>
            <a:ext cx="2796121"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10</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farkli</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sektor</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ETF'i</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ve</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emtia</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3</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gruba</a:t>
            </a:r>
            <a:r>
              <a:rPr lang="en-US" sz="1000">
                <a:solidFill>
                  <a:srgbClr val="FFFFFF"/>
                </a:solidFill>
                <a:latin typeface="Helvetica World"/>
                <a:ea typeface="Helvetica World"/>
                <a:cs typeface="Helvetica World"/>
                <a:sym typeface="Helvetica World"/>
              </a:rPr>
              <a:t> </a:t>
            </a:r>
            <a:r>
              <a:rPr lang="en-US" sz="1000">
                <a:solidFill>
                  <a:srgbClr val="1E293B"/>
                </a:solidFill>
                <a:latin typeface="Helvetica World"/>
                <a:ea typeface="Helvetica World"/>
                <a:cs typeface="Helvetica World"/>
                <a:sym typeface="Helvetica World"/>
              </a:rPr>
              <a:t>ayrilmistir:</a:t>
            </a:r>
          </a:p>
        </p:txBody>
      </p:sp>
      <p:sp>
        <p:nvSpPr>
          <p:cNvPr id="16" name="TextBox 16"/>
          <p:cNvSpPr txBox="1"/>
          <p:nvPr/>
        </p:nvSpPr>
        <p:spPr>
          <a:xfrm>
            <a:off x="796204" y="8254698"/>
            <a:ext cx="4520422"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Birolayinetkisinifarklizamandilimlerinde olcmek icin uc pencere kullanilmistir:</a:t>
            </a:r>
          </a:p>
        </p:txBody>
      </p:sp>
      <p:sp>
        <p:nvSpPr>
          <p:cNvPr id="17" name="TextBox 17"/>
          <p:cNvSpPr txBox="1"/>
          <p:nvPr/>
        </p:nvSpPr>
        <p:spPr>
          <a:xfrm>
            <a:off x="796204" y="1739598"/>
            <a:ext cx="6086951" cy="174625"/>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Bu calismada bes büyük makroekonomik olay incelenmistir. Her biri farkli bir belirsizlik kaynagini temsil</a:t>
            </a:r>
          </a:p>
        </p:txBody>
      </p:sp>
      <p:sp>
        <p:nvSpPr>
          <p:cNvPr id="18" name="TextBox 18"/>
          <p:cNvSpPr txBox="1"/>
          <p:nvPr/>
        </p:nvSpPr>
        <p:spPr>
          <a:xfrm>
            <a:off x="796204" y="1930098"/>
            <a:ext cx="4066775"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eder: politik (secimler), saglik (pandemi), jeopolitik (savaslar/gerilimler).</a:t>
            </a:r>
          </a:p>
        </p:txBody>
      </p:sp>
      <p:sp>
        <p:nvSpPr>
          <p:cNvPr id="19" name="TextBox 19"/>
          <p:cNvSpPr txBox="1"/>
          <p:nvPr/>
        </p:nvSpPr>
        <p:spPr>
          <a:xfrm>
            <a:off x="1156202" y="5625122"/>
            <a:ext cx="647986" cy="208083"/>
          </a:xfrm>
          <a:prstGeom prst="rect">
            <a:avLst/>
          </a:prstGeom>
        </p:spPr>
        <p:txBody>
          <a:bodyPr lIns="0" tIns="0" rIns="0" bIns="0" rtlCol="0" anchor="t">
            <a:spAutoFit/>
          </a:bodyPr>
          <a:lstStyle/>
          <a:p>
            <a:pPr algn="l">
              <a:lnSpc>
                <a:spcPts val="1260"/>
              </a:lnSpc>
            </a:pPr>
            <a:r>
              <a:rPr lang="en-US" sz="900">
                <a:solidFill>
                  <a:srgbClr val="1E293B"/>
                </a:solidFill>
                <a:latin typeface="Helvetica World"/>
                <a:ea typeface="Helvetica World"/>
                <a:cs typeface="Helvetica World"/>
                <a:sym typeface="Helvetica World"/>
              </a:rPr>
              <a:t>Odak Sektor</a:t>
            </a:r>
          </a:p>
        </p:txBody>
      </p:sp>
      <p:sp>
        <p:nvSpPr>
          <p:cNvPr id="20" name="TextBox 20"/>
          <p:cNvSpPr txBox="1"/>
          <p:nvPr/>
        </p:nvSpPr>
        <p:spPr>
          <a:xfrm>
            <a:off x="1156202" y="7276119"/>
            <a:ext cx="719099" cy="208083"/>
          </a:xfrm>
          <a:prstGeom prst="rect">
            <a:avLst/>
          </a:prstGeom>
        </p:spPr>
        <p:txBody>
          <a:bodyPr lIns="0" tIns="0" rIns="0" bIns="0" rtlCol="0" anchor="t">
            <a:spAutoFit/>
          </a:bodyPr>
          <a:lstStyle/>
          <a:p>
            <a:pPr algn="l">
              <a:lnSpc>
                <a:spcPts val="1260"/>
              </a:lnSpc>
            </a:pPr>
            <a:r>
              <a:rPr lang="en-US" sz="900">
                <a:solidFill>
                  <a:srgbClr val="1E293B"/>
                </a:solidFill>
                <a:latin typeface="Helvetica World"/>
                <a:ea typeface="Helvetica World"/>
                <a:cs typeface="Helvetica World"/>
                <a:sym typeface="Helvetica World"/>
              </a:rPr>
              <a:t>Emtia / Makro</a:t>
            </a:r>
          </a:p>
        </p:txBody>
      </p:sp>
      <p:sp>
        <p:nvSpPr>
          <p:cNvPr id="21" name="TextBox 21"/>
          <p:cNvSpPr txBox="1"/>
          <p:nvPr/>
        </p:nvSpPr>
        <p:spPr>
          <a:xfrm>
            <a:off x="1156202" y="6641125"/>
            <a:ext cx="725748" cy="208083"/>
          </a:xfrm>
          <a:prstGeom prst="rect">
            <a:avLst/>
          </a:prstGeom>
        </p:spPr>
        <p:txBody>
          <a:bodyPr lIns="0" tIns="0" rIns="0" bIns="0" rtlCol="0" anchor="t">
            <a:spAutoFit/>
          </a:bodyPr>
          <a:lstStyle/>
          <a:p>
            <a:pPr algn="l">
              <a:lnSpc>
                <a:spcPts val="1260"/>
              </a:lnSpc>
            </a:pPr>
            <a:r>
              <a:rPr lang="en-US" sz="900">
                <a:solidFill>
                  <a:srgbClr val="1E293B"/>
                </a:solidFill>
                <a:latin typeface="Helvetica World"/>
                <a:ea typeface="Helvetica World"/>
                <a:cs typeface="Helvetica World"/>
                <a:sym typeface="Helvetica World"/>
              </a:rPr>
              <a:t>Kontrol Grubu</a:t>
            </a:r>
          </a:p>
        </p:txBody>
      </p:sp>
      <p:sp>
        <p:nvSpPr>
          <p:cNvPr id="22" name="TextBox 22"/>
          <p:cNvSpPr txBox="1"/>
          <p:nvPr/>
        </p:nvSpPr>
        <p:spPr>
          <a:xfrm>
            <a:off x="1663465" y="4840938"/>
            <a:ext cx="278521"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Grup</a:t>
            </a:r>
          </a:p>
        </p:txBody>
      </p:sp>
      <p:sp>
        <p:nvSpPr>
          <p:cNvPr id="23" name="TextBox 23"/>
          <p:cNvSpPr txBox="1"/>
          <p:nvPr/>
        </p:nvSpPr>
        <p:spPr>
          <a:xfrm>
            <a:off x="2216096" y="2250138"/>
            <a:ext cx="252755"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Olay</a:t>
            </a:r>
          </a:p>
        </p:txBody>
      </p:sp>
      <p:sp>
        <p:nvSpPr>
          <p:cNvPr id="24" name="TextBox 24"/>
          <p:cNvSpPr txBox="1"/>
          <p:nvPr/>
        </p:nvSpPr>
        <p:spPr>
          <a:xfrm>
            <a:off x="1156202" y="2465994"/>
            <a:ext cx="1185567" cy="1411415"/>
          </a:xfrm>
          <a:prstGeom prst="rect">
            <a:avLst/>
          </a:prstGeom>
        </p:spPr>
        <p:txBody>
          <a:bodyPr lIns="0" tIns="0" rIns="0" bIns="0" rtlCol="0" anchor="t">
            <a:spAutoFit/>
          </a:bodyPr>
          <a:lstStyle/>
          <a:p>
            <a:pPr algn="l">
              <a:lnSpc>
                <a:spcPts val="2199"/>
              </a:lnSpc>
            </a:pPr>
            <a:r>
              <a:rPr lang="en-US" sz="900">
                <a:solidFill>
                  <a:srgbClr val="1E293B"/>
                </a:solidFill>
                <a:latin typeface="Helvetica World"/>
                <a:ea typeface="Helvetica World"/>
                <a:cs typeface="Helvetica World"/>
                <a:sym typeface="Helvetica World"/>
              </a:rPr>
              <a:t>ABD Secimleri 2016 COVID-19 Pandemisi Rusya-Ukrayna Savasi ABD Secimleri 2024 Israil-Iran Gerilimi</a:t>
            </a:r>
          </a:p>
        </p:txBody>
      </p:sp>
      <p:sp>
        <p:nvSpPr>
          <p:cNvPr id="25" name="TextBox 25"/>
          <p:cNvSpPr txBox="1"/>
          <p:nvPr/>
        </p:nvSpPr>
        <p:spPr>
          <a:xfrm>
            <a:off x="2891638" y="4774263"/>
            <a:ext cx="343462" cy="2831897"/>
          </a:xfrm>
          <a:prstGeom prst="rect">
            <a:avLst/>
          </a:prstGeom>
        </p:spPr>
        <p:txBody>
          <a:bodyPr lIns="0" tIns="0" rIns="0" bIns="0" rtlCol="0" anchor="t">
            <a:spAutoFit/>
          </a:bodyPr>
          <a:lstStyle/>
          <a:p>
            <a:pPr algn="ctr">
              <a:lnSpc>
                <a:spcPts val="1999"/>
              </a:lnSpc>
            </a:pPr>
            <a:r>
              <a:rPr lang="en-US" sz="900" b="1">
                <a:solidFill>
                  <a:srgbClr val="FFFFFF"/>
                </a:solidFill>
                <a:latin typeface="Helvetica World Bold"/>
                <a:ea typeface="Helvetica World Bold"/>
                <a:cs typeface="Helvetica World Bold"/>
                <a:sym typeface="Helvetica World Bold"/>
              </a:rPr>
              <a:t>Ticker </a:t>
            </a:r>
            <a:r>
              <a:rPr lang="en-US" sz="900">
                <a:solidFill>
                  <a:srgbClr val="1E293B"/>
                </a:solidFill>
                <a:latin typeface="Helvetica World"/>
                <a:ea typeface="Helvetica World"/>
                <a:cs typeface="Helvetica World"/>
                <a:sym typeface="Helvetica World"/>
              </a:rPr>
              <a:t>XLK XLF XLE XLV ITA XLP XLY XLRE GLD CL=F</a:t>
            </a:r>
          </a:p>
        </p:txBody>
      </p:sp>
      <p:sp>
        <p:nvSpPr>
          <p:cNvPr id="26" name="TextBox 26"/>
          <p:cNvSpPr txBox="1"/>
          <p:nvPr/>
        </p:nvSpPr>
        <p:spPr>
          <a:xfrm>
            <a:off x="923201" y="8612838"/>
            <a:ext cx="3469596" cy="225562"/>
          </a:xfrm>
          <a:prstGeom prst="rect">
            <a:avLst/>
          </a:prstGeom>
        </p:spPr>
        <p:txBody>
          <a:bodyPr lIns="0" tIns="0" rIns="0" bIns="0" rtlCol="0" anchor="t">
            <a:spAutoFit/>
          </a:bodyPr>
          <a:lstStyle/>
          <a:p>
            <a:pPr algn="l">
              <a:lnSpc>
                <a:spcPts val="1260"/>
              </a:lnSpc>
            </a:pPr>
            <a:r>
              <a:rPr lang="en-US" sz="900" b="1">
                <a:solidFill>
                  <a:srgbClr val="475569"/>
                </a:solidFill>
                <a:latin typeface="Helvetica World Bold"/>
                <a:ea typeface="Helvetica World Bold"/>
                <a:cs typeface="Helvetica World Bold"/>
                <a:sym typeface="Helvetica World Bold"/>
              </a:rPr>
              <a:t>T = 0 (Olay Gunu):</a:t>
            </a:r>
            <a:r>
              <a:rPr lang="en-US" sz="900">
                <a:solidFill>
                  <a:srgbClr val="475569"/>
                </a:solidFill>
                <a:latin typeface="Helvetica World"/>
                <a:ea typeface="Helvetica World"/>
                <a:cs typeface="Helvetica World"/>
                <a:sym typeface="Helvetica World"/>
              </a:rPr>
              <a:t> Haberin geldigi gun. Anlik sok tepkisini yakalar.</a:t>
            </a:r>
          </a:p>
        </p:txBody>
      </p:sp>
      <p:sp>
        <p:nvSpPr>
          <p:cNvPr id="27" name="TextBox 27"/>
          <p:cNvSpPr txBox="1"/>
          <p:nvPr/>
        </p:nvSpPr>
        <p:spPr>
          <a:xfrm>
            <a:off x="4018245" y="2164413"/>
            <a:ext cx="615572" cy="1707947"/>
          </a:xfrm>
          <a:prstGeom prst="rect">
            <a:avLst/>
          </a:prstGeom>
        </p:spPr>
        <p:txBody>
          <a:bodyPr lIns="0" tIns="0" rIns="0" bIns="0" rtlCol="0" anchor="t">
            <a:spAutoFit/>
          </a:bodyPr>
          <a:lstStyle/>
          <a:p>
            <a:pPr algn="ctr">
              <a:lnSpc>
                <a:spcPts val="2199"/>
              </a:lnSpc>
            </a:pPr>
            <a:r>
              <a:rPr lang="en-US" sz="900" b="1">
                <a:solidFill>
                  <a:srgbClr val="FFFFFF"/>
                </a:solidFill>
                <a:latin typeface="Helvetica World Bold"/>
                <a:ea typeface="Helvetica World Bold"/>
                <a:cs typeface="Helvetica World Bold"/>
                <a:sym typeface="Helvetica World Bold"/>
              </a:rPr>
              <a:t>Tarih </a:t>
            </a:r>
            <a:r>
              <a:rPr lang="en-US" sz="900">
                <a:solidFill>
                  <a:srgbClr val="1E293B"/>
                </a:solidFill>
                <a:latin typeface="Helvetica World"/>
                <a:ea typeface="Helvetica World"/>
                <a:cs typeface="Helvetica World"/>
                <a:sym typeface="Helvetica World"/>
              </a:rPr>
              <a:t>Kasim 2016 Mart 2020 Subat 2022 Kasim 2024 Nisan 2024</a:t>
            </a:r>
          </a:p>
        </p:txBody>
      </p:sp>
      <p:sp>
        <p:nvSpPr>
          <p:cNvPr id="28" name="TextBox 28"/>
          <p:cNvSpPr txBox="1"/>
          <p:nvPr/>
        </p:nvSpPr>
        <p:spPr>
          <a:xfrm>
            <a:off x="4789056" y="4840938"/>
            <a:ext cx="511931"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Aciklama</a:t>
            </a:r>
          </a:p>
        </p:txBody>
      </p:sp>
      <p:sp>
        <p:nvSpPr>
          <p:cNvPr id="29" name="TextBox 29"/>
          <p:cNvSpPr txBox="1"/>
          <p:nvPr/>
        </p:nvSpPr>
        <p:spPr>
          <a:xfrm>
            <a:off x="3676202" y="5050450"/>
            <a:ext cx="1056151" cy="2560758"/>
          </a:xfrm>
          <a:prstGeom prst="rect">
            <a:avLst/>
          </a:prstGeom>
        </p:spPr>
        <p:txBody>
          <a:bodyPr lIns="0" tIns="0" rIns="0" bIns="0" rtlCol="0" anchor="t">
            <a:spAutoFit/>
          </a:bodyPr>
          <a:lstStyle/>
          <a:p>
            <a:pPr algn="l">
              <a:lnSpc>
                <a:spcPts val="1999"/>
              </a:lnSpc>
            </a:pPr>
            <a:r>
              <a:rPr lang="en-US" sz="900">
                <a:solidFill>
                  <a:srgbClr val="1E293B"/>
                </a:solidFill>
                <a:latin typeface="Helvetica World"/>
                <a:ea typeface="Helvetica World"/>
                <a:cs typeface="Helvetica World"/>
                <a:sym typeface="Helvetica World"/>
              </a:rPr>
              <a:t>Teknoloji</a:t>
            </a:r>
          </a:p>
          <a:p>
            <a:pPr algn="l">
              <a:lnSpc>
                <a:spcPts val="1999"/>
              </a:lnSpc>
            </a:pPr>
            <a:r>
              <a:rPr lang="en-US" sz="900">
                <a:solidFill>
                  <a:srgbClr val="1E293B"/>
                </a:solidFill>
                <a:latin typeface="Helvetica World"/>
                <a:ea typeface="Helvetica World"/>
                <a:cs typeface="Helvetica World"/>
                <a:sym typeface="Helvetica World"/>
              </a:rPr>
              <a:t>Finans</a:t>
            </a:r>
          </a:p>
          <a:p>
            <a:pPr algn="l">
              <a:lnSpc>
                <a:spcPts val="1999"/>
              </a:lnSpc>
            </a:pPr>
            <a:r>
              <a:rPr lang="en-US" sz="900">
                <a:solidFill>
                  <a:srgbClr val="1E293B"/>
                </a:solidFill>
                <a:latin typeface="Helvetica World"/>
                <a:ea typeface="Helvetica World"/>
                <a:cs typeface="Helvetica World"/>
                <a:sym typeface="Helvetica World"/>
              </a:rPr>
              <a:t>Enerji</a:t>
            </a:r>
          </a:p>
          <a:p>
            <a:pPr algn="l">
              <a:lnSpc>
                <a:spcPts val="1999"/>
              </a:lnSpc>
            </a:pPr>
            <a:r>
              <a:rPr lang="en-US" sz="900">
                <a:solidFill>
                  <a:srgbClr val="1E293B"/>
                </a:solidFill>
                <a:latin typeface="Helvetica World"/>
                <a:ea typeface="Helvetica World"/>
                <a:cs typeface="Helvetica World"/>
                <a:sym typeface="Helvetica World"/>
              </a:rPr>
              <a:t>Saglik</a:t>
            </a:r>
          </a:p>
          <a:p>
            <a:pPr algn="l">
              <a:lnSpc>
                <a:spcPts val="1999"/>
              </a:lnSpc>
            </a:pPr>
            <a:r>
              <a:rPr lang="en-US" sz="900">
                <a:solidFill>
                  <a:srgbClr val="1E293B"/>
                </a:solidFill>
                <a:latin typeface="Helvetica World"/>
                <a:ea typeface="Helvetica World"/>
                <a:cs typeface="Helvetica World"/>
                <a:sym typeface="Helvetica World"/>
              </a:rPr>
              <a:t>Savunma Sanayi Tuketim Temel Tuketim Istege Bagli Gayrimenkul</a:t>
            </a:r>
          </a:p>
          <a:p>
            <a:pPr algn="l">
              <a:lnSpc>
                <a:spcPts val="1999"/>
              </a:lnSpc>
            </a:pPr>
            <a:r>
              <a:rPr lang="en-US" sz="900">
                <a:solidFill>
                  <a:srgbClr val="1E293B"/>
                </a:solidFill>
                <a:latin typeface="Helvetica World"/>
                <a:ea typeface="Helvetica World"/>
                <a:cs typeface="Helvetica World"/>
                <a:sym typeface="Helvetica World"/>
              </a:rPr>
              <a:t>Altin</a:t>
            </a:r>
          </a:p>
          <a:p>
            <a:pPr algn="l">
              <a:lnSpc>
                <a:spcPts val="1999"/>
              </a:lnSpc>
            </a:pPr>
            <a:r>
              <a:rPr lang="en-US" sz="900">
                <a:solidFill>
                  <a:srgbClr val="1E293B"/>
                </a:solidFill>
                <a:latin typeface="Helvetica World"/>
                <a:ea typeface="Helvetica World"/>
                <a:cs typeface="Helvetica World"/>
                <a:sym typeface="Helvetica World"/>
              </a:rPr>
              <a:t>Ham Petrol (WTI)</a:t>
            </a:r>
          </a:p>
        </p:txBody>
      </p:sp>
      <p:sp>
        <p:nvSpPr>
          <p:cNvPr id="30" name="TextBox 30"/>
          <p:cNvSpPr txBox="1"/>
          <p:nvPr/>
        </p:nvSpPr>
        <p:spPr>
          <a:xfrm>
            <a:off x="5337600" y="2164413"/>
            <a:ext cx="861689" cy="1707947"/>
          </a:xfrm>
          <a:prstGeom prst="rect">
            <a:avLst/>
          </a:prstGeom>
        </p:spPr>
        <p:txBody>
          <a:bodyPr lIns="0" tIns="0" rIns="0" bIns="0" rtlCol="0" anchor="t">
            <a:spAutoFit/>
          </a:bodyPr>
          <a:lstStyle/>
          <a:p>
            <a:pPr algn="ctr">
              <a:lnSpc>
                <a:spcPts val="2199"/>
              </a:lnSpc>
            </a:pPr>
            <a:r>
              <a:rPr lang="en-US" sz="900" b="1">
                <a:solidFill>
                  <a:srgbClr val="FFFFFF"/>
                </a:solidFill>
                <a:latin typeface="Helvetica World Bold"/>
                <a:ea typeface="Helvetica World Bold"/>
                <a:cs typeface="Helvetica World Bold"/>
                <a:sym typeface="Helvetica World Bold"/>
              </a:rPr>
              <a:t>Tur</a:t>
            </a:r>
          </a:p>
          <a:p>
            <a:pPr algn="ctr">
              <a:lnSpc>
                <a:spcPts val="2199"/>
              </a:lnSpc>
            </a:pPr>
            <a:r>
              <a:rPr lang="en-US" sz="900">
                <a:solidFill>
                  <a:srgbClr val="1E293B"/>
                </a:solidFill>
                <a:latin typeface="Helvetica World"/>
                <a:ea typeface="Helvetica World"/>
                <a:cs typeface="Helvetica World"/>
                <a:sym typeface="Helvetica World"/>
              </a:rPr>
              <a:t>Politik Saglik/Ekonomik Jeopolitik</a:t>
            </a:r>
          </a:p>
          <a:p>
            <a:pPr algn="ctr">
              <a:lnSpc>
                <a:spcPts val="2199"/>
              </a:lnSpc>
            </a:pPr>
            <a:r>
              <a:rPr lang="en-US" sz="900">
                <a:solidFill>
                  <a:srgbClr val="1E293B"/>
                </a:solidFill>
                <a:latin typeface="Helvetica World"/>
                <a:ea typeface="Helvetica World"/>
                <a:cs typeface="Helvetica World"/>
                <a:sym typeface="Helvetica World"/>
              </a:rPr>
              <a:t>Politik</a:t>
            </a:r>
          </a:p>
          <a:p>
            <a:pPr algn="ctr">
              <a:lnSpc>
                <a:spcPts val="2199"/>
              </a:lnSpc>
            </a:pPr>
            <a:r>
              <a:rPr lang="en-US" sz="900">
                <a:solidFill>
                  <a:srgbClr val="1E293B"/>
                </a:solidFill>
                <a:latin typeface="Helvetica World"/>
                <a:ea typeface="Helvetica World"/>
                <a:cs typeface="Helvetica World"/>
                <a:sym typeface="Helvetica World"/>
              </a:rPr>
              <a:t>Jeopolitik</a:t>
            </a:r>
          </a:p>
        </p:txBody>
      </p:sp>
      <p:sp>
        <p:nvSpPr>
          <p:cNvPr id="31" name="TextBox 31"/>
          <p:cNvSpPr txBox="1"/>
          <p:nvPr/>
        </p:nvSpPr>
        <p:spPr>
          <a:xfrm>
            <a:off x="923201" y="9019242"/>
            <a:ext cx="5827871" cy="168326"/>
          </a:xfrm>
          <a:prstGeom prst="rect">
            <a:avLst/>
          </a:prstGeom>
        </p:spPr>
        <p:txBody>
          <a:bodyPr lIns="0" tIns="0" rIns="0" bIns="0" rtlCol="0" anchor="t">
            <a:spAutoFit/>
          </a:bodyPr>
          <a:lstStyle/>
          <a:p>
            <a:pPr algn="l">
              <a:lnSpc>
                <a:spcPts val="1299"/>
              </a:lnSpc>
            </a:pPr>
            <a:r>
              <a:rPr lang="en-US" sz="900" b="1" spc="3">
                <a:solidFill>
                  <a:srgbClr val="475569"/>
                </a:solidFill>
                <a:latin typeface="Helvetica World Bold"/>
                <a:ea typeface="Helvetica World Bold"/>
                <a:cs typeface="Helvetica World Bold"/>
                <a:sym typeface="Helvetica World Bold"/>
              </a:rPr>
              <a:t>[-3, +3] Kisa Pencere:</a:t>
            </a:r>
            <a:r>
              <a:rPr lang="en-US" sz="900" spc="3">
                <a:solidFill>
                  <a:srgbClr val="475569"/>
                </a:solidFill>
                <a:latin typeface="Helvetica World"/>
                <a:ea typeface="Helvetica World"/>
                <a:cs typeface="Helvetica World"/>
                <a:sym typeface="Helvetica World"/>
              </a:rPr>
              <a:t> Olaydan 3 gun once ile 3 gun sonrasi (7 gun). Kisa vadeli değişim.</a:t>
            </a:r>
          </a:p>
        </p:txBody>
      </p:sp>
      <p:sp>
        <p:nvSpPr>
          <p:cNvPr id="32" name="TextBox 32"/>
          <p:cNvSpPr txBox="1"/>
          <p:nvPr/>
        </p:nvSpPr>
        <p:spPr>
          <a:xfrm>
            <a:off x="3754326" y="4554236"/>
            <a:ext cx="1138161" cy="174212"/>
          </a:xfrm>
          <a:prstGeom prst="rect">
            <a:avLst/>
          </a:prstGeom>
        </p:spPr>
        <p:txBody>
          <a:bodyPr lIns="0" tIns="0" rIns="0" bIns="0" rtlCol="0" anchor="t">
            <a:spAutoFit/>
          </a:bodyPr>
          <a:lstStyle/>
          <a:p>
            <a:pPr algn="l">
              <a:lnSpc>
                <a:spcPts val="1470"/>
              </a:lnSpc>
            </a:pPr>
            <a:r>
              <a:rPr lang="en-US" sz="1050">
                <a:solidFill>
                  <a:srgbClr val="0077D4"/>
                </a:solidFill>
                <a:latin typeface="Arimo"/>
                <a:ea typeface="Arimo"/>
                <a:cs typeface="Arimo"/>
                <a:sym typeface="Arimo"/>
              </a:rPr>
              <a:t>ETF=Yatırım Fonu</a:t>
            </a:r>
          </a:p>
        </p:txBody>
      </p:sp>
      <p:sp>
        <p:nvSpPr>
          <p:cNvPr id="33" name="Freeform 33"/>
          <p:cNvSpPr/>
          <p:nvPr/>
        </p:nvSpPr>
        <p:spPr>
          <a:xfrm>
            <a:off x="720004" y="9549517"/>
            <a:ext cx="6107297" cy="507997"/>
          </a:xfrm>
          <a:custGeom>
            <a:avLst/>
            <a:gdLst/>
            <a:ahLst/>
            <a:cxnLst/>
            <a:rect l="l" t="t" r="r" b="b"/>
            <a:pathLst>
              <a:path w="6107297" h="507997">
                <a:moveTo>
                  <a:pt x="0" y="0"/>
                </a:moveTo>
                <a:lnTo>
                  <a:pt x="6107297" y="0"/>
                </a:lnTo>
                <a:lnTo>
                  <a:pt x="6107297" y="507997"/>
                </a:lnTo>
                <a:lnTo>
                  <a:pt x="0" y="50799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4" name="TextBox 34"/>
          <p:cNvSpPr txBox="1"/>
          <p:nvPr/>
        </p:nvSpPr>
        <p:spPr>
          <a:xfrm>
            <a:off x="1014759" y="9674632"/>
            <a:ext cx="5543312" cy="225562"/>
          </a:xfrm>
          <a:prstGeom prst="rect">
            <a:avLst/>
          </a:prstGeom>
        </p:spPr>
        <p:txBody>
          <a:bodyPr lIns="0" tIns="0" rIns="0" bIns="0" rtlCol="0" anchor="t">
            <a:spAutoFit/>
          </a:bodyPr>
          <a:lstStyle/>
          <a:p>
            <a:pPr algn="l">
              <a:lnSpc>
                <a:spcPts val="1260"/>
              </a:lnSpc>
            </a:pPr>
            <a:r>
              <a:rPr lang="en-US" sz="900" b="1">
                <a:solidFill>
                  <a:srgbClr val="475569"/>
                </a:solidFill>
                <a:latin typeface="Helvetica World Bold"/>
                <a:ea typeface="Helvetica World Bold"/>
                <a:cs typeface="Helvetica World Bold"/>
                <a:sym typeface="Helvetica World Bold"/>
              </a:rPr>
              <a:t>[-10, +10] Genis Pencere:</a:t>
            </a:r>
            <a:r>
              <a:rPr lang="en-US" sz="900">
                <a:solidFill>
                  <a:srgbClr val="475569"/>
                </a:solidFill>
                <a:latin typeface="Helvetica World"/>
                <a:ea typeface="Helvetica World"/>
                <a:cs typeface="Helvetica World"/>
                <a:sym typeface="Helvetica World"/>
              </a:rPr>
              <a:t> 21 gunluk pencere. Haberin tam fiyatlanma surecini ve geciken tepkileri yakalar.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93023" y="1256576"/>
            <a:ext cx="5973947" cy="6353"/>
            <a:chOff x="0" y="0"/>
            <a:chExt cx="5973953" cy="6350"/>
          </a:xfrm>
        </p:grpSpPr>
        <p:sp>
          <p:nvSpPr>
            <p:cNvPr id="5" name="Freeform 5"/>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grpSp>
        <p:nvGrpSpPr>
          <p:cNvPr id="6" name="Group 6"/>
          <p:cNvGrpSpPr/>
          <p:nvPr/>
        </p:nvGrpSpPr>
        <p:grpSpPr>
          <a:xfrm>
            <a:off x="720004" y="1793148"/>
            <a:ext cx="6120003" cy="2761964"/>
            <a:chOff x="0" y="0"/>
            <a:chExt cx="8160004" cy="3682619"/>
          </a:xfrm>
        </p:grpSpPr>
        <p:sp>
          <p:nvSpPr>
            <p:cNvPr id="7" name="Freeform 7"/>
            <p:cNvSpPr/>
            <p:nvPr/>
          </p:nvSpPr>
          <p:spPr>
            <a:xfrm>
              <a:off x="0" y="0"/>
              <a:ext cx="8160004" cy="3682619"/>
            </a:xfrm>
            <a:custGeom>
              <a:avLst/>
              <a:gdLst/>
              <a:ahLst/>
              <a:cxnLst/>
              <a:rect l="l" t="t" r="r" b="b"/>
              <a:pathLst>
                <a:path w="8160004" h="3682619">
                  <a:moveTo>
                    <a:pt x="0" y="0"/>
                  </a:moveTo>
                  <a:lnTo>
                    <a:pt x="8160004" y="0"/>
                  </a:lnTo>
                  <a:lnTo>
                    <a:pt x="8160004" y="3682619"/>
                  </a:lnTo>
                  <a:lnTo>
                    <a:pt x="0" y="3682619"/>
                  </a:lnTo>
                  <a:lnTo>
                    <a:pt x="0" y="0"/>
                  </a:lnTo>
                  <a:close/>
                </a:path>
              </a:pathLst>
            </a:custGeom>
            <a:blipFill>
              <a:blip r:embed="rId2"/>
              <a:stretch>
                <a:fillRect/>
              </a:stretch>
            </a:blipFill>
          </p:spPr>
          <p:txBody>
            <a:bodyPr/>
            <a:lstStyle/>
            <a:p>
              <a:endParaRPr lang="tr-TR"/>
            </a:p>
          </p:txBody>
        </p:sp>
      </p:grpSp>
      <p:sp>
        <p:nvSpPr>
          <p:cNvPr id="8" name="TextBox 8"/>
          <p:cNvSpPr txBox="1"/>
          <p:nvPr/>
        </p:nvSpPr>
        <p:spPr>
          <a:xfrm>
            <a:off x="796204" y="658863"/>
            <a:ext cx="4794209" cy="1060380"/>
          </a:xfrm>
          <a:prstGeom prst="rect">
            <a:avLst/>
          </a:prstGeom>
        </p:spPr>
        <p:txBody>
          <a:bodyPr lIns="0" tIns="0" rIns="0" bIns="0" rtlCol="0" anchor="t">
            <a:spAutoFit/>
          </a:bodyPr>
          <a:lstStyle/>
          <a:p>
            <a:pPr algn="l">
              <a:lnSpc>
                <a:spcPts val="2800"/>
              </a:lnSpc>
            </a:pPr>
            <a:r>
              <a:rPr lang="en-US" sz="2000" b="1">
                <a:solidFill>
                  <a:srgbClr val="1B2A4A"/>
                </a:solidFill>
                <a:latin typeface="Helvetica World Bold"/>
                <a:ea typeface="Helvetica World Bold"/>
                <a:cs typeface="Helvetica World Bold"/>
                <a:sym typeface="Helvetica World Bold"/>
              </a:rPr>
              <a:t>3. Gorsel Analiz</a:t>
            </a:r>
          </a:p>
          <a:p>
            <a:pPr algn="l">
              <a:lnSpc>
                <a:spcPts val="2100"/>
              </a:lnSpc>
            </a:pPr>
            <a:r>
              <a:rPr lang="en-US" sz="1500" b="1">
                <a:solidFill>
                  <a:srgbClr val="2C3E6B"/>
                </a:solidFill>
                <a:latin typeface="Helvetica World Bold"/>
                <a:ea typeface="Helvetica World Bold"/>
                <a:cs typeface="Helvetica World Bold"/>
                <a:sym typeface="Helvetica World Bold"/>
              </a:rPr>
              <a:t>3.1 Kumulatif Anormal Getiri (CAR) - Olay Penceresi</a:t>
            </a:r>
          </a:p>
        </p:txBody>
      </p:sp>
      <p:sp>
        <p:nvSpPr>
          <p:cNvPr id="9" name="TextBox 9"/>
          <p:cNvSpPr txBox="1"/>
          <p:nvPr/>
        </p:nvSpPr>
        <p:spPr>
          <a:xfrm>
            <a:off x="2110873" y="4564380"/>
            <a:ext cx="3405007" cy="208083"/>
          </a:xfrm>
          <a:prstGeom prst="rect">
            <a:avLst/>
          </a:prstGeom>
        </p:spPr>
        <p:txBody>
          <a:bodyPr lIns="0" tIns="0" rIns="0" bIns="0" rtlCol="0" anchor="t">
            <a:spAutoFit/>
          </a:bodyPr>
          <a:lstStyle/>
          <a:p>
            <a:pPr algn="l">
              <a:lnSpc>
                <a:spcPts val="1260"/>
              </a:lnSpc>
            </a:pPr>
            <a:r>
              <a:rPr lang="en-US" sz="900">
                <a:solidFill>
                  <a:srgbClr val="64748B"/>
                </a:solidFill>
                <a:latin typeface="Helvetica World"/>
                <a:ea typeface="Helvetica World"/>
                <a:cs typeface="Helvetica World"/>
                <a:sym typeface="Helvetica World"/>
              </a:rPr>
              <a:t>Grafik 1: Sektorlerin [-20, +20] gun olay penceresindeki CAR seyri</a:t>
            </a:r>
          </a:p>
        </p:txBody>
      </p:sp>
      <p:sp>
        <p:nvSpPr>
          <p:cNvPr id="10" name="TextBox 10"/>
          <p:cNvSpPr txBox="1"/>
          <p:nvPr/>
        </p:nvSpPr>
        <p:spPr>
          <a:xfrm>
            <a:off x="796204" y="4809896"/>
            <a:ext cx="6086951" cy="1123245"/>
          </a:xfrm>
          <a:prstGeom prst="rect">
            <a:avLst/>
          </a:prstGeom>
        </p:spPr>
        <p:txBody>
          <a:bodyPr lIns="0" tIns="0" rIns="0" bIns="0" rtlCol="0" anchor="t">
            <a:spAutoFit/>
          </a:bodyPr>
          <a:lstStyle/>
          <a:p>
            <a:pPr algn="just">
              <a:lnSpc>
                <a:spcPts val="1800"/>
              </a:lnSpc>
            </a:pPr>
            <a:r>
              <a:rPr lang="en-US" sz="1200" b="1" i="1">
                <a:solidFill>
                  <a:srgbClr val="3B82F6"/>
                </a:solidFill>
                <a:latin typeface="Helvetica World Bold Italics"/>
                <a:ea typeface="Helvetica World Bold Italics"/>
                <a:cs typeface="Helvetica World Bold Italics"/>
                <a:sym typeface="Helvetica World Bold Italics"/>
              </a:rPr>
              <a:t>Bu grafik ne anlatiyor?</a:t>
            </a:r>
          </a:p>
          <a:p>
            <a:pPr algn="just">
              <a:lnSpc>
                <a:spcPts val="1500"/>
              </a:lnSpc>
            </a:pPr>
            <a:r>
              <a:rPr lang="en-US" sz="1000" spc="20">
                <a:solidFill>
                  <a:srgbClr val="1E293B"/>
                </a:solidFill>
                <a:latin typeface="Helvetica World"/>
                <a:ea typeface="Helvetica World"/>
                <a:cs typeface="Helvetica World"/>
                <a:sym typeface="Helvetica World"/>
              </a:rPr>
              <a:t>Her cizgi bir sektorun olay civarindaki birikimli anormal getirisini gosteriyor. Enerji (XLE) ve ham petrol (CL=F) cizgileri olay gunu sonrasinda asagi sarkiyor -- bu sektorler piyasanin genel dususunun otesinde ekstra kayip yasiyor. Saglik (XLV) ve finans (XLF) ise goreceli olarak yukari yonlu bir seyir izliyor: makro soklardan daha az etkileniyor, hatta piyasayi yeniyor.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20004" y="1151801"/>
            <a:ext cx="6120003" cy="2824905"/>
            <a:chOff x="0" y="0"/>
            <a:chExt cx="8160004" cy="3766541"/>
          </a:xfrm>
        </p:grpSpPr>
        <p:sp>
          <p:nvSpPr>
            <p:cNvPr id="5" name="Freeform 5"/>
            <p:cNvSpPr/>
            <p:nvPr/>
          </p:nvSpPr>
          <p:spPr>
            <a:xfrm>
              <a:off x="0" y="0"/>
              <a:ext cx="8160004" cy="3766566"/>
            </a:xfrm>
            <a:custGeom>
              <a:avLst/>
              <a:gdLst/>
              <a:ahLst/>
              <a:cxnLst/>
              <a:rect l="l" t="t" r="r" b="b"/>
              <a:pathLst>
                <a:path w="8160004" h="3766566">
                  <a:moveTo>
                    <a:pt x="0" y="0"/>
                  </a:moveTo>
                  <a:lnTo>
                    <a:pt x="8160004" y="0"/>
                  </a:lnTo>
                  <a:lnTo>
                    <a:pt x="8160004" y="3766566"/>
                  </a:lnTo>
                  <a:lnTo>
                    <a:pt x="0" y="3766566"/>
                  </a:lnTo>
                  <a:lnTo>
                    <a:pt x="0" y="0"/>
                  </a:lnTo>
                  <a:close/>
                </a:path>
              </a:pathLst>
            </a:custGeom>
            <a:blipFill>
              <a:blip r:embed="rId2"/>
              <a:stretch>
                <a:fillRect/>
              </a:stretch>
            </a:blipFill>
          </p:spPr>
          <p:txBody>
            <a:bodyPr/>
            <a:lstStyle/>
            <a:p>
              <a:endParaRPr lang="tr-TR"/>
            </a:p>
          </p:txBody>
        </p:sp>
      </p:grpSp>
      <p:sp>
        <p:nvSpPr>
          <p:cNvPr id="6" name="TextBox 6"/>
          <p:cNvSpPr txBox="1"/>
          <p:nvPr/>
        </p:nvSpPr>
        <p:spPr>
          <a:xfrm>
            <a:off x="796204" y="683666"/>
            <a:ext cx="1663103" cy="382286"/>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3.2 Volatilite Soku</a:t>
            </a:r>
          </a:p>
        </p:txBody>
      </p:sp>
      <p:sp>
        <p:nvSpPr>
          <p:cNvPr id="7" name="TextBox 7"/>
          <p:cNvSpPr txBox="1"/>
          <p:nvPr/>
        </p:nvSpPr>
        <p:spPr>
          <a:xfrm>
            <a:off x="2474633" y="3985984"/>
            <a:ext cx="2662942" cy="208083"/>
          </a:xfrm>
          <a:prstGeom prst="rect">
            <a:avLst/>
          </a:prstGeom>
        </p:spPr>
        <p:txBody>
          <a:bodyPr lIns="0" tIns="0" rIns="0" bIns="0" rtlCol="0" anchor="t">
            <a:spAutoFit/>
          </a:bodyPr>
          <a:lstStyle/>
          <a:p>
            <a:pPr algn="l">
              <a:lnSpc>
                <a:spcPts val="1260"/>
              </a:lnSpc>
            </a:pPr>
            <a:r>
              <a:rPr lang="en-US" sz="900">
                <a:solidFill>
                  <a:srgbClr val="64748B"/>
                </a:solidFill>
                <a:latin typeface="Helvetica World"/>
                <a:ea typeface="Helvetica World"/>
                <a:cs typeface="Helvetica World"/>
                <a:sym typeface="Helvetica World"/>
              </a:rPr>
              <a:t>Grafik 2: Olay civarinda 10 gunluk volatilite degisimi</a:t>
            </a:r>
          </a:p>
        </p:txBody>
      </p:sp>
      <p:sp>
        <p:nvSpPr>
          <p:cNvPr id="8" name="TextBox 8"/>
          <p:cNvSpPr txBox="1"/>
          <p:nvPr/>
        </p:nvSpPr>
        <p:spPr>
          <a:xfrm>
            <a:off x="796204" y="4250541"/>
            <a:ext cx="1684430"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Bu grafik ne anlatiyor?</a:t>
            </a:r>
          </a:p>
        </p:txBody>
      </p:sp>
      <p:sp>
        <p:nvSpPr>
          <p:cNvPr id="9" name="TextBox 9"/>
          <p:cNvSpPr txBox="1"/>
          <p:nvPr/>
        </p:nvSpPr>
        <p:spPr>
          <a:xfrm>
            <a:off x="796204" y="4535929"/>
            <a:ext cx="6086951" cy="952500"/>
          </a:xfrm>
          <a:prstGeom prst="rect">
            <a:avLst/>
          </a:prstGeom>
        </p:spPr>
        <p:txBody>
          <a:bodyPr lIns="0" tIns="0" rIns="0" bIns="0" rtlCol="0" anchor="t">
            <a:spAutoFit/>
          </a:bodyPr>
          <a:lstStyle/>
          <a:p>
            <a:pPr algn="just">
              <a:lnSpc>
                <a:spcPts val="1500"/>
              </a:lnSpc>
            </a:pPr>
            <a:r>
              <a:rPr lang="en-US" sz="1000">
                <a:solidFill>
                  <a:srgbClr val="1E293B"/>
                </a:solidFill>
                <a:latin typeface="Helvetica World"/>
                <a:ea typeface="Helvetica World"/>
                <a:cs typeface="Helvetica World"/>
                <a:sym typeface="Helvetica World"/>
              </a:rPr>
              <a:t>Olay gunu civarinda tum sektorlerde volatilite (fiyat dalgalanmasi) belirgin bir sicrama gosteriyor. Bu, olayin yonu ne olursa olsun belirsizligi artirdiginin kanıtdır. Özellikle enerji ve emtia kategorilerinde volatilite sicramasi daha sert ve uzun sureli. Yani piyasadaki 'ikinci moment' (risk) etkisi, 'birinci moment' (getiri yonu) etkisinden daha net görülmektedir. Bu bulgu, VaR (Value at Risk/En kötü ihtimal) ve volatilite hedeflemesi gibi risk yonetim araclarinin degerini destekler.</a:t>
            </a:r>
          </a:p>
        </p:txBody>
      </p:sp>
      <p:sp>
        <p:nvSpPr>
          <p:cNvPr id="10" name="TextBox 10"/>
          <p:cNvSpPr txBox="1"/>
          <p:nvPr/>
        </p:nvSpPr>
        <p:spPr>
          <a:xfrm>
            <a:off x="1746856" y="5716972"/>
            <a:ext cx="4953038" cy="328012"/>
          </a:xfrm>
          <a:prstGeom prst="rect">
            <a:avLst/>
          </a:prstGeom>
        </p:spPr>
        <p:txBody>
          <a:bodyPr lIns="0" tIns="0" rIns="0" bIns="0" rtlCol="0" anchor="t">
            <a:spAutoFit/>
          </a:bodyPr>
          <a:lstStyle/>
          <a:p>
            <a:pPr algn="l">
              <a:lnSpc>
                <a:spcPts val="1251"/>
              </a:lnSpc>
            </a:pPr>
            <a:r>
              <a:rPr lang="en-US" sz="1050">
                <a:solidFill>
                  <a:srgbClr val="0077D4"/>
                </a:solidFill>
                <a:latin typeface="Arimo"/>
                <a:ea typeface="Arimo"/>
                <a:cs typeface="Arimo"/>
                <a:sym typeface="Arimo"/>
              </a:rPr>
              <a:t>Birinci moment → “piyasa yukarı mı gidiyor aşağı mı?”</a:t>
            </a:r>
          </a:p>
          <a:p>
            <a:pPr algn="l">
              <a:lnSpc>
                <a:spcPts val="1251"/>
              </a:lnSpc>
            </a:pPr>
            <a:r>
              <a:rPr lang="en-US" sz="1050">
                <a:solidFill>
                  <a:srgbClr val="0077D4"/>
                </a:solidFill>
                <a:latin typeface="Arimo"/>
                <a:ea typeface="Arimo"/>
                <a:cs typeface="Arimo"/>
                <a:sym typeface="Arimo"/>
              </a:rPr>
              <a:t>İkinci moment (variance / volatilite) → “piyasa ne kadar sert hareket ediyor?”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20004" y="1151801"/>
            <a:ext cx="6120003" cy="3504067"/>
            <a:chOff x="0" y="0"/>
            <a:chExt cx="8160004" cy="4672089"/>
          </a:xfrm>
        </p:grpSpPr>
        <p:sp>
          <p:nvSpPr>
            <p:cNvPr id="5" name="Freeform 5"/>
            <p:cNvSpPr/>
            <p:nvPr/>
          </p:nvSpPr>
          <p:spPr>
            <a:xfrm>
              <a:off x="0" y="0"/>
              <a:ext cx="8160004" cy="4672076"/>
            </a:xfrm>
            <a:custGeom>
              <a:avLst/>
              <a:gdLst/>
              <a:ahLst/>
              <a:cxnLst/>
              <a:rect l="l" t="t" r="r" b="b"/>
              <a:pathLst>
                <a:path w="8160004" h="4672076">
                  <a:moveTo>
                    <a:pt x="0" y="0"/>
                  </a:moveTo>
                  <a:lnTo>
                    <a:pt x="8160004" y="0"/>
                  </a:lnTo>
                  <a:lnTo>
                    <a:pt x="8160004" y="4672076"/>
                  </a:lnTo>
                  <a:lnTo>
                    <a:pt x="0" y="4672076"/>
                  </a:lnTo>
                  <a:lnTo>
                    <a:pt x="0" y="0"/>
                  </a:lnTo>
                  <a:close/>
                </a:path>
              </a:pathLst>
            </a:custGeom>
            <a:blipFill>
              <a:blip r:embed="rId2"/>
              <a:stretch>
                <a:fillRect/>
              </a:stretch>
            </a:blipFill>
          </p:spPr>
          <p:txBody>
            <a:bodyPr/>
            <a:lstStyle/>
            <a:p>
              <a:endParaRPr lang="tr-TR"/>
            </a:p>
          </p:txBody>
        </p:sp>
      </p:grpSp>
      <p:sp>
        <p:nvSpPr>
          <p:cNvPr id="6" name="TextBox 6"/>
          <p:cNvSpPr txBox="1"/>
          <p:nvPr/>
        </p:nvSpPr>
        <p:spPr>
          <a:xfrm>
            <a:off x="796204" y="683666"/>
            <a:ext cx="2877731" cy="382286"/>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3.5 Sektor Ortalama CAR[-3,+3]</a:t>
            </a:r>
          </a:p>
        </p:txBody>
      </p:sp>
      <p:sp>
        <p:nvSpPr>
          <p:cNvPr id="7" name="TextBox 7"/>
          <p:cNvSpPr txBox="1"/>
          <p:nvPr/>
        </p:nvSpPr>
        <p:spPr>
          <a:xfrm>
            <a:off x="2458860" y="4665135"/>
            <a:ext cx="2695118" cy="148590"/>
          </a:xfrm>
          <a:prstGeom prst="rect">
            <a:avLst/>
          </a:prstGeom>
        </p:spPr>
        <p:txBody>
          <a:bodyPr lIns="0" tIns="0" rIns="0" bIns="0" rtlCol="0" anchor="t">
            <a:spAutoFit/>
          </a:bodyPr>
          <a:lstStyle/>
          <a:p>
            <a:pPr algn="l">
              <a:lnSpc>
                <a:spcPts val="1260"/>
              </a:lnSpc>
            </a:pPr>
            <a:r>
              <a:rPr lang="en-US" sz="900">
                <a:solidFill>
                  <a:srgbClr val="64748B"/>
                </a:solidFill>
                <a:latin typeface="Helvetica World"/>
                <a:ea typeface="Helvetica World"/>
                <a:cs typeface="Helvetica World"/>
                <a:sym typeface="Helvetica World"/>
              </a:rPr>
              <a:t>Grafik 5: Sektor bazli ortalama CAR </a:t>
            </a:r>
          </a:p>
        </p:txBody>
      </p:sp>
      <p:sp>
        <p:nvSpPr>
          <p:cNvPr id="8" name="TextBox 8"/>
          <p:cNvSpPr txBox="1"/>
          <p:nvPr/>
        </p:nvSpPr>
        <p:spPr>
          <a:xfrm>
            <a:off x="796204" y="4910642"/>
            <a:ext cx="6086951" cy="1123245"/>
          </a:xfrm>
          <a:prstGeom prst="rect">
            <a:avLst/>
          </a:prstGeom>
        </p:spPr>
        <p:txBody>
          <a:bodyPr lIns="0" tIns="0" rIns="0" bIns="0" rtlCol="0" anchor="t">
            <a:spAutoFit/>
          </a:bodyPr>
          <a:lstStyle/>
          <a:p>
            <a:pPr algn="just">
              <a:lnSpc>
                <a:spcPts val="1800"/>
              </a:lnSpc>
            </a:pPr>
            <a:r>
              <a:rPr lang="en-US" sz="1200" b="1" i="1">
                <a:solidFill>
                  <a:srgbClr val="3B82F6"/>
                </a:solidFill>
                <a:latin typeface="Helvetica World Bold Italics"/>
                <a:ea typeface="Helvetica World Bold Italics"/>
                <a:cs typeface="Helvetica World Bold Italics"/>
                <a:sym typeface="Helvetica World Bold Italics"/>
              </a:rPr>
              <a:t>Bu grafik ne anlatiyor?</a:t>
            </a:r>
          </a:p>
          <a:p>
            <a:pPr algn="just">
              <a:lnSpc>
                <a:spcPts val="1500"/>
              </a:lnSpc>
            </a:pPr>
            <a:r>
              <a:rPr lang="en-US" sz="1000">
                <a:solidFill>
                  <a:srgbClr val="1E293B"/>
                </a:solidFill>
                <a:latin typeface="Helvetica World"/>
                <a:ea typeface="Helvetica World"/>
                <a:cs typeface="Helvetica World"/>
                <a:sym typeface="Helvetica World"/>
              </a:rPr>
              <a:t>Bu cubuk grafik, her sektorun 5 olay uzerindeki ortalama kumulatif anormal getirisini ozetliyor. Yesil cubuklar pozitif ayrisan (piyasayi yenen), kirmizi cubuklar negatif ayrisan (piyasanin gerisinde kalan) sektorleri gosteriyor. Ham petrol (CL=F) ve enerji (XLE) acik ara en negatif; finans (XLF) ve saglik (XLV) ise en pozitif ayrisan sektorler.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4356" y="1186015"/>
            <a:ext cx="5713352" cy="2089147"/>
          </a:xfrm>
          <a:custGeom>
            <a:avLst/>
            <a:gdLst/>
            <a:ahLst/>
            <a:cxnLst/>
            <a:rect l="l" t="t" r="r" b="b"/>
            <a:pathLst>
              <a:path w="5713352" h="2089147">
                <a:moveTo>
                  <a:pt x="0" y="0"/>
                </a:moveTo>
                <a:lnTo>
                  <a:pt x="5713352" y="0"/>
                </a:lnTo>
                <a:lnTo>
                  <a:pt x="5713352" y="2089147"/>
                </a:lnTo>
                <a:lnTo>
                  <a:pt x="0" y="208914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grpSp>
        <p:nvGrpSpPr>
          <p:cNvPr id="3" name="Group 3"/>
          <p:cNvGrpSpPr/>
          <p:nvPr/>
        </p:nvGrpSpPr>
        <p:grpSpPr>
          <a:xfrm>
            <a:off x="720004" y="580301"/>
            <a:ext cx="6120003" cy="25403"/>
            <a:chOff x="0" y="0"/>
            <a:chExt cx="6120003" cy="25400"/>
          </a:xfrm>
        </p:grpSpPr>
        <p:sp>
          <p:nvSpPr>
            <p:cNvPr id="4" name="Freeform 4"/>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5" name="Group 5"/>
          <p:cNvGrpSpPr/>
          <p:nvPr/>
        </p:nvGrpSpPr>
        <p:grpSpPr>
          <a:xfrm>
            <a:off x="793023" y="1256576"/>
            <a:ext cx="5973947" cy="6353"/>
            <a:chOff x="0" y="0"/>
            <a:chExt cx="5973953" cy="6350"/>
          </a:xfrm>
        </p:grpSpPr>
        <p:sp>
          <p:nvSpPr>
            <p:cNvPr id="6" name="Freeform 6"/>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sp>
        <p:nvSpPr>
          <p:cNvPr id="7" name="TextBox 7"/>
          <p:cNvSpPr txBox="1"/>
          <p:nvPr/>
        </p:nvSpPr>
        <p:spPr>
          <a:xfrm>
            <a:off x="557235" y="3426162"/>
            <a:ext cx="1900352" cy="289560"/>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 Anahtar Bulgular</a:t>
            </a:r>
          </a:p>
        </p:txBody>
      </p:sp>
      <p:sp>
        <p:nvSpPr>
          <p:cNvPr id="8" name="TextBox 8"/>
          <p:cNvSpPr txBox="1"/>
          <p:nvPr/>
        </p:nvSpPr>
        <p:spPr>
          <a:xfrm>
            <a:off x="557235" y="784555"/>
            <a:ext cx="2505627" cy="289560"/>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 4-Olay Bazli One Cikanlar</a:t>
            </a:r>
          </a:p>
        </p:txBody>
      </p:sp>
      <p:sp>
        <p:nvSpPr>
          <p:cNvPr id="9" name="TextBox 9"/>
          <p:cNvSpPr txBox="1"/>
          <p:nvPr/>
        </p:nvSpPr>
        <p:spPr>
          <a:xfrm>
            <a:off x="1723577" y="1739598"/>
            <a:ext cx="36014" cy="238611"/>
          </a:xfrm>
          <a:prstGeom prst="rect">
            <a:avLst/>
          </a:prstGeom>
        </p:spPr>
        <p:txBody>
          <a:bodyPr lIns="0" tIns="0" rIns="0" bIns="0" rtlCol="0" anchor="t">
            <a:spAutoFit/>
          </a:bodyPr>
          <a:lstStyle/>
          <a:p>
            <a:pPr algn="l">
              <a:lnSpc>
                <a:spcPts val="1400"/>
              </a:lnSpc>
            </a:pPr>
            <a:r>
              <a:rPr lang="en-US" sz="1000">
                <a:solidFill>
                  <a:srgbClr val="1E293B"/>
                </a:solidFill>
                <a:latin typeface="Helvetica World"/>
                <a:ea typeface="Helvetica World"/>
                <a:cs typeface="Helvetica World"/>
                <a:sym typeface="Helvetica World"/>
              </a:rPr>
              <a:t> </a:t>
            </a:r>
          </a:p>
        </p:txBody>
      </p:sp>
      <p:sp>
        <p:nvSpPr>
          <p:cNvPr id="10" name="TextBox 10"/>
          <p:cNvSpPr txBox="1"/>
          <p:nvPr/>
        </p:nvSpPr>
        <p:spPr>
          <a:xfrm>
            <a:off x="1478147" y="2250138"/>
            <a:ext cx="362817"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Sektor</a:t>
            </a:r>
          </a:p>
        </p:txBody>
      </p:sp>
      <p:sp>
        <p:nvSpPr>
          <p:cNvPr id="11" name="TextBox 11"/>
          <p:cNvSpPr txBox="1"/>
          <p:nvPr/>
        </p:nvSpPr>
        <p:spPr>
          <a:xfrm>
            <a:off x="1374128" y="1252480"/>
            <a:ext cx="748484"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Olay + Sektor</a:t>
            </a:r>
          </a:p>
        </p:txBody>
      </p:sp>
      <p:sp>
        <p:nvSpPr>
          <p:cNvPr id="12" name="TextBox 12"/>
          <p:cNvSpPr txBox="1"/>
          <p:nvPr/>
        </p:nvSpPr>
        <p:spPr>
          <a:xfrm>
            <a:off x="827231" y="1468336"/>
            <a:ext cx="1532411" cy="1690811"/>
          </a:xfrm>
          <a:prstGeom prst="rect">
            <a:avLst/>
          </a:prstGeom>
        </p:spPr>
        <p:txBody>
          <a:bodyPr lIns="0" tIns="0" rIns="0" bIns="0" rtlCol="0" anchor="t">
            <a:spAutoFit/>
          </a:bodyPr>
          <a:lstStyle/>
          <a:p>
            <a:pPr algn="l">
              <a:lnSpc>
                <a:spcPts val="2199"/>
              </a:lnSpc>
            </a:pPr>
            <a:r>
              <a:rPr lang="en-US" sz="900">
                <a:solidFill>
                  <a:srgbClr val="1E293B"/>
                </a:solidFill>
                <a:latin typeface="Helvetica World"/>
                <a:ea typeface="Helvetica World"/>
                <a:cs typeface="Helvetica World"/>
                <a:sym typeface="Helvetica World"/>
              </a:rPr>
              <a:t>COVID + XLE (Enerji)</a:t>
            </a:r>
          </a:p>
          <a:p>
            <a:pPr algn="l">
              <a:lnSpc>
                <a:spcPts val="2199"/>
              </a:lnSpc>
            </a:pPr>
            <a:r>
              <a:rPr lang="en-US" sz="900">
                <a:solidFill>
                  <a:srgbClr val="1E293B"/>
                </a:solidFill>
                <a:latin typeface="Helvetica World"/>
                <a:ea typeface="Helvetica World"/>
                <a:cs typeface="Helvetica World"/>
                <a:sym typeface="Helvetica World"/>
              </a:rPr>
              <a:t>COVID + CL=F (Petrol)</a:t>
            </a:r>
          </a:p>
          <a:p>
            <a:pPr algn="l">
              <a:lnSpc>
                <a:spcPts val="2199"/>
              </a:lnSpc>
            </a:pPr>
            <a:r>
              <a:rPr lang="en-US" sz="900">
                <a:solidFill>
                  <a:srgbClr val="1E293B"/>
                </a:solidFill>
                <a:latin typeface="Helvetica World"/>
                <a:ea typeface="Helvetica World"/>
                <a:cs typeface="Helvetica World"/>
                <a:sym typeface="Helvetica World"/>
              </a:rPr>
              <a:t>2016 Secim + XLF (Finans) 2016 Secim + ITA (Savunma) COVID + XLV (Saglik)</a:t>
            </a:r>
          </a:p>
          <a:p>
            <a:pPr algn="l">
              <a:lnSpc>
                <a:spcPts val="2199"/>
              </a:lnSpc>
            </a:pPr>
            <a:r>
              <a:rPr lang="en-US" sz="900">
                <a:solidFill>
                  <a:srgbClr val="1E293B"/>
                </a:solidFill>
                <a:latin typeface="Helvetica World"/>
                <a:ea typeface="Helvetica World"/>
                <a:cs typeface="Helvetica World"/>
                <a:sym typeface="Helvetica World"/>
              </a:rPr>
              <a:t>2016 Secim + GLD (Altin)</a:t>
            </a:r>
          </a:p>
        </p:txBody>
      </p:sp>
      <p:sp>
        <p:nvSpPr>
          <p:cNvPr id="13" name="TextBox 13"/>
          <p:cNvSpPr txBox="1"/>
          <p:nvPr/>
        </p:nvSpPr>
        <p:spPr>
          <a:xfrm>
            <a:off x="2977337" y="1166755"/>
            <a:ext cx="599132" cy="1987687"/>
          </a:xfrm>
          <a:prstGeom prst="rect">
            <a:avLst/>
          </a:prstGeom>
        </p:spPr>
        <p:txBody>
          <a:bodyPr lIns="0" tIns="0" rIns="0" bIns="0" rtlCol="0" anchor="t">
            <a:spAutoFit/>
          </a:bodyPr>
          <a:lstStyle/>
          <a:p>
            <a:pPr algn="ctr">
              <a:lnSpc>
                <a:spcPts val="2199"/>
              </a:lnSpc>
            </a:pPr>
            <a:r>
              <a:rPr lang="en-US" sz="900" b="1">
                <a:solidFill>
                  <a:srgbClr val="FFFFFF"/>
                </a:solidFill>
                <a:latin typeface="Helvetica World Bold"/>
                <a:ea typeface="Helvetica World Bold"/>
                <a:cs typeface="Helvetica World Bold"/>
                <a:sym typeface="Helvetica World Bold"/>
              </a:rPr>
              <a:t>CAR[-3,+3] </a:t>
            </a:r>
            <a:r>
              <a:rPr lang="en-US" sz="900" b="1">
                <a:solidFill>
                  <a:srgbClr val="EF4444"/>
                </a:solidFill>
                <a:latin typeface="Helvetica World Bold"/>
                <a:ea typeface="Helvetica World Bold"/>
                <a:cs typeface="Helvetica World Bold"/>
                <a:sym typeface="Helvetica World Bold"/>
              </a:rPr>
              <a:t>-17.8% -16.4% </a:t>
            </a:r>
            <a:r>
              <a:rPr lang="en-US" sz="900" b="1">
                <a:solidFill>
                  <a:srgbClr val="22C55E"/>
                </a:solidFill>
                <a:latin typeface="Helvetica World Bold"/>
                <a:ea typeface="Helvetica World Bold"/>
                <a:cs typeface="Helvetica World Bold"/>
                <a:sym typeface="Helvetica World Bold"/>
              </a:rPr>
              <a:t>+6.9% +6.2% +3.0% </a:t>
            </a:r>
            <a:r>
              <a:rPr lang="en-US" sz="900" b="1">
                <a:solidFill>
                  <a:srgbClr val="EF4444"/>
                </a:solidFill>
                <a:latin typeface="Helvetica World Bold"/>
                <a:ea typeface="Helvetica World Bold"/>
                <a:cs typeface="Helvetica World Bold"/>
                <a:sym typeface="Helvetica World Bold"/>
              </a:rPr>
              <a:t>-9.7%</a:t>
            </a:r>
          </a:p>
        </p:txBody>
      </p:sp>
      <p:sp>
        <p:nvSpPr>
          <p:cNvPr id="14" name="TextBox 14"/>
          <p:cNvSpPr txBox="1"/>
          <p:nvPr/>
        </p:nvSpPr>
        <p:spPr>
          <a:xfrm>
            <a:off x="5052803" y="4985671"/>
            <a:ext cx="369227" cy="225562"/>
          </a:xfrm>
          <a:prstGeom prst="rect">
            <a:avLst/>
          </a:prstGeom>
        </p:spPr>
        <p:txBody>
          <a:bodyPr lIns="0" tIns="0" rIns="0" bIns="0" rtlCol="0" anchor="t">
            <a:spAutoFit/>
          </a:bodyPr>
          <a:lstStyle/>
          <a:p>
            <a:pPr algn="l">
              <a:lnSpc>
                <a:spcPts val="1260"/>
              </a:lnSpc>
            </a:pPr>
            <a:r>
              <a:rPr lang="en-US" sz="900" b="1">
                <a:solidFill>
                  <a:srgbClr val="FFFFFF"/>
                </a:solidFill>
                <a:latin typeface="Helvetica World Bold"/>
                <a:ea typeface="Helvetica World Bold"/>
                <a:cs typeface="Helvetica World Bold"/>
                <a:sym typeface="Helvetica World Bold"/>
              </a:rPr>
              <a:t>Yorum</a:t>
            </a:r>
          </a:p>
        </p:txBody>
      </p:sp>
      <p:sp>
        <p:nvSpPr>
          <p:cNvPr id="15" name="TextBox 15"/>
          <p:cNvSpPr txBox="1"/>
          <p:nvPr/>
        </p:nvSpPr>
        <p:spPr>
          <a:xfrm>
            <a:off x="3887232" y="1468336"/>
            <a:ext cx="2105892" cy="1690811"/>
          </a:xfrm>
          <a:prstGeom prst="rect">
            <a:avLst/>
          </a:prstGeom>
        </p:spPr>
        <p:txBody>
          <a:bodyPr lIns="0" tIns="0" rIns="0" bIns="0" rtlCol="0" anchor="t">
            <a:spAutoFit/>
          </a:bodyPr>
          <a:lstStyle/>
          <a:p>
            <a:pPr algn="l">
              <a:lnSpc>
                <a:spcPts val="2199"/>
              </a:lnSpc>
            </a:pPr>
            <a:r>
              <a:rPr lang="en-US" sz="900">
                <a:solidFill>
                  <a:srgbClr val="1E293B"/>
                </a:solidFill>
                <a:latin typeface="Helvetica World"/>
                <a:ea typeface="Helvetica World"/>
                <a:cs typeface="Helvetica World"/>
                <a:sym typeface="Helvetica World"/>
              </a:rPr>
              <a:t>En sert darbe -- talep soku</a:t>
            </a:r>
          </a:p>
          <a:p>
            <a:pPr algn="l">
              <a:lnSpc>
                <a:spcPts val="2199"/>
              </a:lnSpc>
            </a:pPr>
            <a:r>
              <a:rPr lang="en-US" sz="900">
                <a:solidFill>
                  <a:srgbClr val="1E293B"/>
                </a:solidFill>
                <a:latin typeface="Helvetica World"/>
                <a:ea typeface="Helvetica World"/>
                <a:cs typeface="Helvetica World"/>
                <a:sym typeface="Helvetica World"/>
              </a:rPr>
              <a:t>Kuresel kapanma petrol talebini cogkertti Trump rally -- faiz/duzenleme beklentisi Savunma harcamasi beklentisi</a:t>
            </a:r>
          </a:p>
          <a:p>
            <a:pPr algn="l">
              <a:lnSpc>
                <a:spcPts val="2199"/>
              </a:lnSpc>
            </a:pPr>
            <a:r>
              <a:rPr lang="en-US" sz="900">
                <a:solidFill>
                  <a:srgbClr val="1E293B"/>
                </a:solidFill>
                <a:latin typeface="Helvetica World"/>
                <a:ea typeface="Helvetica World"/>
                <a:cs typeface="Helvetica World"/>
                <a:sym typeface="Helvetica World"/>
              </a:rPr>
              <a:t>Defansif karakter dogrulandi</a:t>
            </a:r>
          </a:p>
          <a:p>
            <a:pPr algn="l">
              <a:lnSpc>
                <a:spcPts val="2199"/>
              </a:lnSpc>
            </a:pPr>
            <a:r>
              <a:rPr lang="en-US" sz="900">
                <a:solidFill>
                  <a:srgbClr val="1E293B"/>
                </a:solidFill>
                <a:latin typeface="Helvetica World"/>
                <a:ea typeface="Helvetica World"/>
                <a:cs typeface="Helvetica World"/>
                <a:sym typeface="Helvetica World"/>
              </a:rPr>
              <a:t>'Guvenli liman' beklentisinin altinda</a:t>
            </a:r>
          </a:p>
        </p:txBody>
      </p:sp>
      <p:grpSp>
        <p:nvGrpSpPr>
          <p:cNvPr id="16" name="Group 16"/>
          <p:cNvGrpSpPr/>
          <p:nvPr/>
        </p:nvGrpSpPr>
        <p:grpSpPr>
          <a:xfrm>
            <a:off x="618273" y="3976204"/>
            <a:ext cx="6120003" cy="25403"/>
            <a:chOff x="0" y="0"/>
            <a:chExt cx="6120003" cy="25400"/>
          </a:xfrm>
        </p:grpSpPr>
        <p:sp>
          <p:nvSpPr>
            <p:cNvPr id="17" name="Freeform 17"/>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sp>
        <p:nvSpPr>
          <p:cNvPr id="18" name="Freeform 18"/>
          <p:cNvSpPr/>
          <p:nvPr/>
        </p:nvSpPr>
        <p:spPr>
          <a:xfrm>
            <a:off x="624617" y="4122250"/>
            <a:ext cx="6107297" cy="2425703"/>
          </a:xfrm>
          <a:custGeom>
            <a:avLst/>
            <a:gdLst/>
            <a:ahLst/>
            <a:cxnLst/>
            <a:rect l="l" t="t" r="r" b="b"/>
            <a:pathLst>
              <a:path w="6107297" h="2425703">
                <a:moveTo>
                  <a:pt x="0" y="0"/>
                </a:moveTo>
                <a:lnTo>
                  <a:pt x="6107297" y="0"/>
                </a:lnTo>
                <a:lnTo>
                  <a:pt x="6107297" y="2425704"/>
                </a:lnTo>
                <a:lnTo>
                  <a:pt x="0" y="2425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19"/>
          <p:cNvSpPr txBox="1"/>
          <p:nvPr/>
        </p:nvSpPr>
        <p:spPr>
          <a:xfrm>
            <a:off x="821470" y="5982597"/>
            <a:ext cx="5827871" cy="330251"/>
          </a:xfrm>
          <a:prstGeom prst="rect">
            <a:avLst/>
          </a:prstGeom>
        </p:spPr>
        <p:txBody>
          <a:bodyPr lIns="0" tIns="0" rIns="0" bIns="0" rtlCol="0" anchor="t">
            <a:spAutoFit/>
          </a:bodyPr>
          <a:lstStyle/>
          <a:p>
            <a:pPr algn="l">
              <a:lnSpc>
                <a:spcPts val="1299"/>
              </a:lnSpc>
            </a:pPr>
            <a:r>
              <a:rPr lang="en-US" sz="900" b="1" spc="6">
                <a:solidFill>
                  <a:srgbClr val="475569"/>
                </a:solidFill>
                <a:latin typeface="Helvetica World Bold"/>
                <a:ea typeface="Helvetica World Bold"/>
                <a:cs typeface="Helvetica World Bold"/>
                <a:sym typeface="Helvetica World Bold"/>
              </a:rPr>
              <a:t>Altın:</a:t>
            </a:r>
            <a:r>
              <a:rPr lang="en-US" sz="900" spc="6">
                <a:solidFill>
                  <a:srgbClr val="475569"/>
                </a:solidFill>
                <a:latin typeface="Helvetica World"/>
                <a:ea typeface="Helvetica World"/>
                <a:cs typeface="Helvetica World"/>
                <a:sym typeface="Helvetica World"/>
              </a:rPr>
              <a:t> Klasik 'guvenli liman' argumani bu verilerde tam dogrulanmiyor. Altinin mutlak getirisi pozitif olsa bile, SPY'a goreceli performansi negatif.</a:t>
            </a:r>
          </a:p>
        </p:txBody>
      </p:sp>
      <p:sp>
        <p:nvSpPr>
          <p:cNvPr id="20" name="TextBox 20"/>
          <p:cNvSpPr txBox="1"/>
          <p:nvPr/>
        </p:nvSpPr>
        <p:spPr>
          <a:xfrm>
            <a:off x="821470" y="4229997"/>
            <a:ext cx="5827871" cy="390315"/>
          </a:xfrm>
          <a:prstGeom prst="rect">
            <a:avLst/>
          </a:prstGeom>
        </p:spPr>
        <p:txBody>
          <a:bodyPr lIns="0" tIns="0" rIns="0" bIns="0" rtlCol="0" anchor="t">
            <a:spAutoFit/>
          </a:bodyPr>
          <a:lstStyle/>
          <a:p>
            <a:pPr algn="l">
              <a:lnSpc>
                <a:spcPts val="1299"/>
              </a:lnSpc>
            </a:pPr>
            <a:r>
              <a:rPr lang="en-US" sz="900" b="1" spc="8">
                <a:solidFill>
                  <a:srgbClr val="475569"/>
                </a:solidFill>
                <a:latin typeface="Helvetica World Bold"/>
                <a:ea typeface="Helvetica World Bold"/>
                <a:cs typeface="Helvetica World Bold"/>
                <a:sym typeface="Helvetica World Bold"/>
              </a:rPr>
              <a:t>Negatif Ayrisan Sektorler:</a:t>
            </a:r>
            <a:r>
              <a:rPr lang="en-US" sz="900" spc="8">
                <a:solidFill>
                  <a:srgbClr val="475569"/>
                </a:solidFill>
                <a:latin typeface="Helvetica World"/>
                <a:ea typeface="Helvetica World"/>
                <a:cs typeface="Helvetica World"/>
                <a:sym typeface="Helvetica World"/>
              </a:rPr>
              <a:t> Ham petrol (CL=F, CAR = -4.3%) ve enerji (XLE, CAR = -3.5%) makro soklarda en cok yara alan varliklar. Altin (GLD) da beklentilerin aksine SPY'a gore negatif ayristi (CAR = -2.6%).</a:t>
            </a:r>
          </a:p>
        </p:txBody>
      </p:sp>
      <p:sp>
        <p:nvSpPr>
          <p:cNvPr id="21" name="TextBox 21"/>
          <p:cNvSpPr txBox="1"/>
          <p:nvPr/>
        </p:nvSpPr>
        <p:spPr>
          <a:xfrm>
            <a:off x="821470" y="4814194"/>
            <a:ext cx="5827871" cy="390315"/>
          </a:xfrm>
          <a:prstGeom prst="rect">
            <a:avLst/>
          </a:prstGeom>
        </p:spPr>
        <p:txBody>
          <a:bodyPr lIns="0" tIns="0" rIns="0" bIns="0" rtlCol="0" anchor="t">
            <a:spAutoFit/>
          </a:bodyPr>
          <a:lstStyle/>
          <a:p>
            <a:pPr algn="l">
              <a:lnSpc>
                <a:spcPts val="1299"/>
              </a:lnSpc>
            </a:pPr>
            <a:r>
              <a:rPr lang="en-US" sz="900" b="1">
                <a:solidFill>
                  <a:srgbClr val="475569"/>
                </a:solidFill>
                <a:latin typeface="Helvetica World Bold"/>
                <a:ea typeface="Helvetica World Bold"/>
                <a:cs typeface="Helvetica World Bold"/>
                <a:sym typeface="Helvetica World Bold"/>
              </a:rPr>
              <a:t>Pozitif Ayrisan Sektorler:</a:t>
            </a:r>
            <a:r>
              <a:rPr lang="en-US" sz="900">
                <a:solidFill>
                  <a:srgbClr val="475569"/>
                </a:solidFill>
                <a:latin typeface="Helvetica World"/>
                <a:ea typeface="Helvetica World"/>
                <a:cs typeface="Helvetica World"/>
                <a:sym typeface="Helvetica World"/>
              </a:rPr>
              <a:t> Finans (XLF, CAR = +1.6%) ve saglik (XLV, CAR = +1.2%) defansif karakter gosteriyor. Ozellikle saglik, 5 olayin 4'unde pozitif CAR uretti.</a:t>
            </a:r>
          </a:p>
        </p:txBody>
      </p:sp>
      <p:sp>
        <p:nvSpPr>
          <p:cNvPr id="22" name="TextBox 22"/>
          <p:cNvSpPr txBox="1"/>
          <p:nvPr/>
        </p:nvSpPr>
        <p:spPr>
          <a:xfrm>
            <a:off x="821470" y="5398391"/>
            <a:ext cx="5827871" cy="390315"/>
          </a:xfrm>
          <a:prstGeom prst="rect">
            <a:avLst/>
          </a:prstGeom>
        </p:spPr>
        <p:txBody>
          <a:bodyPr lIns="0" tIns="0" rIns="0" bIns="0" rtlCol="0" anchor="t">
            <a:spAutoFit/>
          </a:bodyPr>
          <a:lstStyle/>
          <a:p>
            <a:pPr algn="l">
              <a:lnSpc>
                <a:spcPts val="1299"/>
              </a:lnSpc>
            </a:pPr>
            <a:r>
              <a:rPr lang="en-US" sz="900" b="1" spc="1">
                <a:solidFill>
                  <a:srgbClr val="475569"/>
                </a:solidFill>
                <a:latin typeface="Helvetica World Bold"/>
                <a:ea typeface="Helvetica World Bold"/>
                <a:cs typeface="Helvetica World Bold"/>
                <a:sym typeface="Helvetica World Bold"/>
              </a:rPr>
              <a:t>Notur / Es-Hareketli:</a:t>
            </a:r>
            <a:r>
              <a:rPr lang="en-US" sz="900" spc="1">
                <a:solidFill>
                  <a:srgbClr val="475569"/>
                </a:solidFill>
                <a:latin typeface="Helvetica World"/>
                <a:ea typeface="Helvetica World"/>
                <a:cs typeface="Helvetica World"/>
                <a:sym typeface="Helvetica World"/>
              </a:rPr>
              <a:t> Teknoloji (XLK), savunma (ITA) ve tuketim istege bagli (XLY) SPY ile birlikte hareket etti -- belirgin bir ayrismaya neden olmadi.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04" y="580301"/>
            <a:ext cx="6120003" cy="25403"/>
            <a:chOff x="0" y="0"/>
            <a:chExt cx="6120003" cy="25400"/>
          </a:xfrm>
        </p:grpSpPr>
        <p:sp>
          <p:nvSpPr>
            <p:cNvPr id="3" name="Freeform 3"/>
            <p:cNvSpPr/>
            <p:nvPr/>
          </p:nvSpPr>
          <p:spPr>
            <a:xfrm>
              <a:off x="0" y="0"/>
              <a:ext cx="6120006" cy="25400"/>
            </a:xfrm>
            <a:custGeom>
              <a:avLst/>
              <a:gdLst/>
              <a:ahLst/>
              <a:cxnLst/>
              <a:rect l="l" t="t" r="r" b="b"/>
              <a:pathLst>
                <a:path w="6120006" h="25400">
                  <a:moveTo>
                    <a:pt x="0" y="0"/>
                  </a:moveTo>
                  <a:lnTo>
                    <a:pt x="6120006" y="0"/>
                  </a:lnTo>
                  <a:lnTo>
                    <a:pt x="6120006" y="25400"/>
                  </a:lnTo>
                  <a:lnTo>
                    <a:pt x="0" y="25400"/>
                  </a:lnTo>
                  <a:close/>
                </a:path>
              </a:pathLst>
            </a:custGeom>
            <a:solidFill>
              <a:srgbClr val="3B82F6"/>
            </a:solidFill>
          </p:spPr>
          <p:txBody>
            <a:bodyPr/>
            <a:lstStyle/>
            <a:p>
              <a:endParaRPr lang="tr-TR"/>
            </a:p>
          </p:txBody>
        </p:sp>
      </p:grpSp>
      <p:grpSp>
        <p:nvGrpSpPr>
          <p:cNvPr id="4" name="Group 4"/>
          <p:cNvGrpSpPr/>
          <p:nvPr/>
        </p:nvGrpSpPr>
        <p:grpSpPr>
          <a:xfrm>
            <a:off x="793023" y="1256576"/>
            <a:ext cx="5973947" cy="6353"/>
            <a:chOff x="0" y="0"/>
            <a:chExt cx="5973953" cy="6350"/>
          </a:xfrm>
        </p:grpSpPr>
        <p:sp>
          <p:nvSpPr>
            <p:cNvPr id="5" name="Freeform 5"/>
            <p:cNvSpPr/>
            <p:nvPr/>
          </p:nvSpPr>
          <p:spPr>
            <a:xfrm>
              <a:off x="0" y="0"/>
              <a:ext cx="5973956" cy="6350"/>
            </a:xfrm>
            <a:custGeom>
              <a:avLst/>
              <a:gdLst/>
              <a:ahLst/>
              <a:cxnLst/>
              <a:rect l="l" t="t" r="r" b="b"/>
              <a:pathLst>
                <a:path w="5973956" h="6350">
                  <a:moveTo>
                    <a:pt x="3175" y="0"/>
                  </a:moveTo>
                  <a:lnTo>
                    <a:pt x="5970781" y="0"/>
                  </a:lnTo>
                  <a:cubicBezTo>
                    <a:pt x="5972559" y="0"/>
                    <a:pt x="5973956" y="1397"/>
                    <a:pt x="5973956" y="3175"/>
                  </a:cubicBezTo>
                  <a:cubicBezTo>
                    <a:pt x="5973956" y="4953"/>
                    <a:pt x="5972559" y="6350"/>
                    <a:pt x="5970781" y="6350"/>
                  </a:cubicBezTo>
                  <a:lnTo>
                    <a:pt x="3175" y="6350"/>
                  </a:lnTo>
                  <a:cubicBezTo>
                    <a:pt x="1397" y="6350"/>
                    <a:pt x="0" y="4953"/>
                    <a:pt x="0" y="3175"/>
                  </a:cubicBezTo>
                  <a:cubicBezTo>
                    <a:pt x="0" y="1397"/>
                    <a:pt x="1397" y="0"/>
                    <a:pt x="3175" y="0"/>
                  </a:cubicBezTo>
                  <a:close/>
                </a:path>
              </a:pathLst>
            </a:custGeom>
            <a:solidFill>
              <a:srgbClr val="CBD5E1"/>
            </a:solidFill>
          </p:spPr>
          <p:txBody>
            <a:bodyPr/>
            <a:lstStyle/>
            <a:p>
              <a:endParaRPr lang="tr-TR"/>
            </a:p>
          </p:txBody>
        </p:sp>
      </p:grpSp>
      <p:sp>
        <p:nvSpPr>
          <p:cNvPr id="6" name="Freeform 6"/>
          <p:cNvSpPr/>
          <p:nvPr/>
        </p:nvSpPr>
        <p:spPr>
          <a:xfrm>
            <a:off x="720004" y="8435254"/>
            <a:ext cx="6120003" cy="1269997"/>
          </a:xfrm>
          <a:custGeom>
            <a:avLst/>
            <a:gdLst/>
            <a:ahLst/>
            <a:cxnLst/>
            <a:rect l="l" t="t" r="r" b="b"/>
            <a:pathLst>
              <a:path w="6120003" h="1269997">
                <a:moveTo>
                  <a:pt x="0" y="0"/>
                </a:moveTo>
                <a:lnTo>
                  <a:pt x="6120003" y="0"/>
                </a:lnTo>
                <a:lnTo>
                  <a:pt x="6120003" y="1269997"/>
                </a:lnTo>
                <a:lnTo>
                  <a:pt x="0" y="12699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 name="Freeform 7"/>
          <p:cNvSpPr/>
          <p:nvPr/>
        </p:nvSpPr>
        <p:spPr>
          <a:xfrm>
            <a:off x="726348" y="2853595"/>
            <a:ext cx="6107297" cy="673103"/>
          </a:xfrm>
          <a:custGeom>
            <a:avLst/>
            <a:gdLst/>
            <a:ahLst/>
            <a:cxnLst/>
            <a:rect l="l" t="t" r="r" b="b"/>
            <a:pathLst>
              <a:path w="6107297" h="673103">
                <a:moveTo>
                  <a:pt x="0" y="0"/>
                </a:moveTo>
                <a:lnTo>
                  <a:pt x="6107297" y="0"/>
                </a:lnTo>
                <a:lnTo>
                  <a:pt x="6107297" y="673103"/>
                </a:lnTo>
                <a:lnTo>
                  <a:pt x="0" y="6731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 name="Freeform 8"/>
          <p:cNvSpPr/>
          <p:nvPr/>
        </p:nvSpPr>
        <p:spPr>
          <a:xfrm>
            <a:off x="726348" y="3844195"/>
            <a:ext cx="6107297" cy="673103"/>
          </a:xfrm>
          <a:custGeom>
            <a:avLst/>
            <a:gdLst/>
            <a:ahLst/>
            <a:cxnLst/>
            <a:rect l="l" t="t" r="r" b="b"/>
            <a:pathLst>
              <a:path w="6107297" h="673103">
                <a:moveTo>
                  <a:pt x="0" y="0"/>
                </a:moveTo>
                <a:lnTo>
                  <a:pt x="6107297" y="0"/>
                </a:lnTo>
                <a:lnTo>
                  <a:pt x="6107297" y="673103"/>
                </a:lnTo>
                <a:lnTo>
                  <a:pt x="0" y="6731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 name="Freeform 9"/>
          <p:cNvSpPr/>
          <p:nvPr/>
        </p:nvSpPr>
        <p:spPr>
          <a:xfrm>
            <a:off x="726348" y="4834795"/>
            <a:ext cx="6107297" cy="838200"/>
          </a:xfrm>
          <a:custGeom>
            <a:avLst/>
            <a:gdLst/>
            <a:ahLst/>
            <a:cxnLst/>
            <a:rect l="l" t="t" r="r" b="b"/>
            <a:pathLst>
              <a:path w="6107297" h="838200">
                <a:moveTo>
                  <a:pt x="0" y="0"/>
                </a:moveTo>
                <a:lnTo>
                  <a:pt x="6107297" y="0"/>
                </a:lnTo>
                <a:lnTo>
                  <a:pt x="6107297" y="838200"/>
                </a:lnTo>
                <a:lnTo>
                  <a:pt x="0" y="8382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 name="Freeform 10"/>
          <p:cNvSpPr/>
          <p:nvPr/>
        </p:nvSpPr>
        <p:spPr>
          <a:xfrm>
            <a:off x="726348" y="5990501"/>
            <a:ext cx="6107297" cy="838200"/>
          </a:xfrm>
          <a:custGeom>
            <a:avLst/>
            <a:gdLst/>
            <a:ahLst/>
            <a:cxnLst/>
            <a:rect l="l" t="t" r="r" b="b"/>
            <a:pathLst>
              <a:path w="6107297" h="838200">
                <a:moveTo>
                  <a:pt x="0" y="0"/>
                </a:moveTo>
                <a:lnTo>
                  <a:pt x="6107297" y="0"/>
                </a:lnTo>
                <a:lnTo>
                  <a:pt x="6107297" y="838200"/>
                </a:lnTo>
                <a:lnTo>
                  <a:pt x="0" y="8382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1" name="Freeform 11"/>
          <p:cNvSpPr/>
          <p:nvPr/>
        </p:nvSpPr>
        <p:spPr>
          <a:xfrm>
            <a:off x="726348" y="7400201"/>
            <a:ext cx="6107297" cy="1003297"/>
          </a:xfrm>
          <a:custGeom>
            <a:avLst/>
            <a:gdLst/>
            <a:ahLst/>
            <a:cxnLst/>
            <a:rect l="l" t="t" r="r" b="b"/>
            <a:pathLst>
              <a:path w="6107297" h="1003297">
                <a:moveTo>
                  <a:pt x="0" y="0"/>
                </a:moveTo>
                <a:lnTo>
                  <a:pt x="6107297" y="0"/>
                </a:lnTo>
                <a:lnTo>
                  <a:pt x="6107297" y="1003297"/>
                </a:lnTo>
                <a:lnTo>
                  <a:pt x="0" y="100329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2" name="TextBox 12"/>
          <p:cNvSpPr txBox="1"/>
          <p:nvPr/>
        </p:nvSpPr>
        <p:spPr>
          <a:xfrm>
            <a:off x="796204" y="639813"/>
            <a:ext cx="6086951" cy="792480"/>
          </a:xfrm>
          <a:prstGeom prst="rect">
            <a:avLst/>
          </a:prstGeom>
        </p:spPr>
        <p:txBody>
          <a:bodyPr lIns="0" tIns="0" rIns="0" bIns="0" rtlCol="0" anchor="t">
            <a:spAutoFit/>
          </a:bodyPr>
          <a:lstStyle/>
          <a:p>
            <a:pPr algn="just">
              <a:lnSpc>
                <a:spcPts val="3000"/>
              </a:lnSpc>
            </a:pPr>
            <a:r>
              <a:rPr lang="en-US" sz="2000" b="1">
                <a:solidFill>
                  <a:srgbClr val="1B2A4A"/>
                </a:solidFill>
                <a:latin typeface="Helvetica World Bold"/>
                <a:ea typeface="Helvetica World Bold"/>
                <a:cs typeface="Helvetica World Bold"/>
                <a:sym typeface="Helvetica World Bold"/>
              </a:rPr>
              <a:t>5. Kapanis: Portfoy Yonetimi Icin Cikarimlar</a:t>
            </a:r>
          </a:p>
          <a:p>
            <a:pPr algn="just">
              <a:lnSpc>
                <a:spcPts val="1500"/>
              </a:lnSpc>
            </a:pPr>
            <a:r>
              <a:rPr lang="en-US" sz="1000">
                <a:solidFill>
                  <a:srgbClr val="1E293B"/>
                </a:solidFill>
                <a:latin typeface="Helvetica World"/>
                <a:ea typeface="Helvetica World"/>
                <a:cs typeface="Helvetica World"/>
                <a:sym typeface="Helvetica World"/>
              </a:rPr>
              <a:t>Bu olay calismasi, makroekonomik soklar yasandiginda sektorlerin nasil farkli tepkiler verdigini ortaya koymustur. Basit anlamda ekonomik egilimler tutarli ve portfoy yonetimi icin yol gostericidir.</a:t>
            </a:r>
          </a:p>
        </p:txBody>
      </p:sp>
      <p:sp>
        <p:nvSpPr>
          <p:cNvPr id="13" name="TextBox 13"/>
          <p:cNvSpPr txBox="1"/>
          <p:nvPr/>
        </p:nvSpPr>
        <p:spPr>
          <a:xfrm>
            <a:off x="973998" y="8601532"/>
            <a:ext cx="5724239" cy="838676"/>
          </a:xfrm>
          <a:prstGeom prst="rect">
            <a:avLst/>
          </a:prstGeom>
        </p:spPr>
        <p:txBody>
          <a:bodyPr lIns="0" tIns="0" rIns="0" bIns="0" rtlCol="0" anchor="t">
            <a:spAutoFit/>
          </a:bodyPr>
          <a:lstStyle/>
          <a:p>
            <a:pPr algn="just">
              <a:lnSpc>
                <a:spcPts val="1500"/>
              </a:lnSpc>
            </a:pPr>
            <a:r>
              <a:rPr lang="en-US" sz="1000" b="1">
                <a:solidFill>
                  <a:srgbClr val="FFFFFF"/>
                </a:solidFill>
                <a:latin typeface="Helvetica World Bold"/>
                <a:ea typeface="Helvetica World Bold"/>
                <a:cs typeface="Helvetica World Bold"/>
                <a:sym typeface="Helvetica World Bold"/>
              </a:rPr>
              <a:t>Sonuc:</a:t>
            </a:r>
            <a:r>
              <a:rPr lang="en-US" sz="1000">
                <a:solidFill>
                  <a:srgbClr val="FFFFFF"/>
                </a:solidFill>
                <a:latin typeface="Helvetica World"/>
                <a:ea typeface="Helvetica World"/>
                <a:cs typeface="Helvetica World"/>
                <a:sym typeface="Helvetica World"/>
              </a:rPr>
              <a:t> Makro soklarda </a:t>
            </a:r>
            <a:r>
              <a:rPr lang="en-US" sz="1000">
                <a:solidFill>
                  <a:srgbClr val="22C55E"/>
                </a:solidFill>
                <a:latin typeface="Helvetica World"/>
                <a:ea typeface="Helvetica World"/>
                <a:cs typeface="Helvetica World"/>
                <a:sym typeface="Helvetica World"/>
              </a:rPr>
              <a:t>saglik ve finans sektorleri pozitif</a:t>
            </a:r>
            <a:r>
              <a:rPr lang="en-US" sz="1000">
                <a:solidFill>
                  <a:srgbClr val="FFFFFF"/>
                </a:solidFill>
                <a:latin typeface="Helvetica World"/>
                <a:ea typeface="Helvetica World"/>
                <a:cs typeface="Helvetica World"/>
                <a:sym typeface="Helvetica World"/>
              </a:rPr>
              <a:t>, </a:t>
            </a:r>
            <a:r>
              <a:rPr lang="en-US" sz="1000">
                <a:solidFill>
                  <a:srgbClr val="EF4444"/>
                </a:solidFill>
                <a:latin typeface="Helvetica World"/>
                <a:ea typeface="Helvetica World"/>
                <a:cs typeface="Helvetica World"/>
                <a:sym typeface="Helvetica World"/>
              </a:rPr>
              <a:t>enerji ve emtia kategorileri negatif </a:t>
            </a:r>
            <a:r>
              <a:rPr lang="en-US" sz="1000">
                <a:solidFill>
                  <a:srgbClr val="FFFFFF"/>
                </a:solidFill>
                <a:latin typeface="Helvetica World"/>
                <a:ea typeface="Helvetica World"/>
                <a:cs typeface="Helvetica World"/>
                <a:sym typeface="Helvetica World"/>
              </a:rPr>
              <a:t>ayrismaktadir. Sinirli orneklem nedeniyle fark istatistiksel anlamliliga ulasmamis olsa da </a:t>
            </a:r>
            <a:r>
              <a:rPr lang="en-US" sz="1000" b="1">
                <a:solidFill>
                  <a:srgbClr val="FFFFFF"/>
                </a:solidFill>
                <a:latin typeface="Helvetica World Bold"/>
                <a:ea typeface="Helvetica World Bold"/>
                <a:cs typeface="Helvetica World Bold"/>
                <a:sym typeface="Helvetica World Bold"/>
              </a:rPr>
              <a:t>ekonomik yon tutarlidir</a:t>
            </a:r>
            <a:r>
              <a:rPr lang="en-US" sz="1000">
                <a:solidFill>
                  <a:srgbClr val="FFFFFF"/>
                </a:solidFill>
                <a:latin typeface="Helvetica World"/>
                <a:ea typeface="Helvetica World"/>
                <a:cs typeface="Helvetica World"/>
                <a:sym typeface="Helvetica World"/>
              </a:rPr>
              <a:t> ve portfoy yoneticileri icin hedge karari verilirken defansif sektorlerin agirliginin artirilmasi, enerji/emtia maruziyetinin azaltilmasi ve volatilite hedeflemesi yonlerinde yol gostericidir.</a:t>
            </a:r>
          </a:p>
        </p:txBody>
      </p:sp>
      <p:sp>
        <p:nvSpPr>
          <p:cNvPr id="14" name="TextBox 14"/>
          <p:cNvSpPr txBox="1"/>
          <p:nvPr/>
        </p:nvSpPr>
        <p:spPr>
          <a:xfrm>
            <a:off x="796204" y="2150516"/>
            <a:ext cx="2365334" cy="518160"/>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5.1 </a:t>
            </a:r>
          </a:p>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Enerji/Petrol Agirligini Azaltin</a:t>
            </a:r>
          </a:p>
        </p:txBody>
      </p:sp>
      <p:sp>
        <p:nvSpPr>
          <p:cNvPr id="15" name="TextBox 15"/>
          <p:cNvSpPr txBox="1"/>
          <p:nvPr/>
        </p:nvSpPr>
        <p:spPr>
          <a:xfrm>
            <a:off x="796204" y="7001923"/>
            <a:ext cx="3186494" cy="382286"/>
          </a:xfrm>
          <a:prstGeom prst="rect">
            <a:avLst/>
          </a:prstGeom>
        </p:spPr>
        <p:txBody>
          <a:bodyPr lIns="0" tIns="0" rIns="0" bIns="0" rtlCol="0" anchor="t">
            <a:spAutoFit/>
          </a:bodyPr>
          <a:lstStyle/>
          <a:p>
            <a:pPr algn="l">
              <a:lnSpc>
                <a:spcPts val="2100"/>
              </a:lnSpc>
            </a:pPr>
            <a:r>
              <a:rPr lang="en-US" sz="1500" b="1">
                <a:solidFill>
                  <a:srgbClr val="2C3E6B"/>
                </a:solidFill>
                <a:latin typeface="Helvetica World Bold"/>
                <a:ea typeface="Helvetica World Bold"/>
                <a:cs typeface="Helvetica World Bold"/>
                <a:sym typeface="Helvetica World Bold"/>
              </a:rPr>
              <a:t>5.2 Sinirliliklar ve Gelecek Calisma</a:t>
            </a:r>
          </a:p>
        </p:txBody>
      </p:sp>
      <p:sp>
        <p:nvSpPr>
          <p:cNvPr id="16" name="TextBox 16"/>
          <p:cNvSpPr txBox="1"/>
          <p:nvPr/>
        </p:nvSpPr>
        <p:spPr>
          <a:xfrm>
            <a:off x="796204" y="4556179"/>
            <a:ext cx="2669353"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Guvenli Liman Kliselerini Sorgulatin</a:t>
            </a:r>
          </a:p>
        </p:txBody>
      </p:sp>
      <p:sp>
        <p:nvSpPr>
          <p:cNvPr id="17" name="TextBox 17"/>
          <p:cNvSpPr txBox="1"/>
          <p:nvPr/>
        </p:nvSpPr>
        <p:spPr>
          <a:xfrm>
            <a:off x="796204" y="5711885"/>
            <a:ext cx="2824953"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Volatilite Sinyali Getiriden Daha Guclu</a:t>
            </a:r>
          </a:p>
        </p:txBody>
      </p:sp>
      <p:sp>
        <p:nvSpPr>
          <p:cNvPr id="18" name="TextBox 18"/>
          <p:cNvSpPr txBox="1"/>
          <p:nvPr/>
        </p:nvSpPr>
        <p:spPr>
          <a:xfrm>
            <a:off x="796204" y="3565579"/>
            <a:ext cx="3369335" cy="284874"/>
          </a:xfrm>
          <a:prstGeom prst="rect">
            <a:avLst/>
          </a:prstGeom>
        </p:spPr>
        <p:txBody>
          <a:bodyPr lIns="0" tIns="0" rIns="0" bIns="0" rtlCol="0" anchor="t">
            <a:spAutoFit/>
          </a:bodyPr>
          <a:lstStyle/>
          <a:p>
            <a:pPr algn="l">
              <a:lnSpc>
                <a:spcPts val="1679"/>
              </a:lnSpc>
            </a:pPr>
            <a:r>
              <a:rPr lang="en-US" sz="1200" b="1" i="1">
                <a:solidFill>
                  <a:srgbClr val="3B82F6"/>
                </a:solidFill>
                <a:latin typeface="Helvetica World Bold Italics"/>
                <a:ea typeface="Helvetica World Bold Italics"/>
                <a:cs typeface="Helvetica World Bold Italics"/>
                <a:sym typeface="Helvetica World Bold Italics"/>
              </a:rPr>
              <a:t>Saglik ve Finans Tampon Olarak Kullanilabilir</a:t>
            </a:r>
          </a:p>
        </p:txBody>
      </p:sp>
      <p:sp>
        <p:nvSpPr>
          <p:cNvPr id="19" name="TextBox 19"/>
          <p:cNvSpPr txBox="1"/>
          <p:nvPr/>
        </p:nvSpPr>
        <p:spPr>
          <a:xfrm>
            <a:off x="923201" y="2983525"/>
            <a:ext cx="5827871" cy="373190"/>
          </a:xfrm>
          <a:prstGeom prst="rect">
            <a:avLst/>
          </a:prstGeom>
        </p:spPr>
        <p:txBody>
          <a:bodyPr lIns="0" tIns="0" rIns="0" bIns="0" rtlCol="0" anchor="t">
            <a:spAutoFit/>
          </a:bodyPr>
          <a:lstStyle/>
          <a:p>
            <a:pPr algn="l">
              <a:lnSpc>
                <a:spcPts val="1299"/>
              </a:lnSpc>
            </a:pPr>
            <a:r>
              <a:rPr lang="en-US" sz="900">
                <a:solidFill>
                  <a:srgbClr val="475569"/>
                </a:solidFill>
                <a:latin typeface="Helvetica World"/>
                <a:ea typeface="Helvetica World"/>
                <a:cs typeface="Helvetica World"/>
                <a:sym typeface="Helvetica World"/>
              </a:rPr>
              <a:t>CL=F ve XLE tum olaylarda negatif ayrisma egilimi gostermistir. Makro belirsizlik alarmi yukseldiginde bu sektorlerin portfoy agirligini azaltmak veya opsiyon bazli koruma almak risk/getiri oranini iyilestirebilir.</a:t>
            </a:r>
          </a:p>
        </p:txBody>
      </p:sp>
      <p:sp>
        <p:nvSpPr>
          <p:cNvPr id="20" name="TextBox 20"/>
          <p:cNvSpPr txBox="1"/>
          <p:nvPr/>
        </p:nvSpPr>
        <p:spPr>
          <a:xfrm>
            <a:off x="923201" y="3974125"/>
            <a:ext cx="5827871" cy="373190"/>
          </a:xfrm>
          <a:prstGeom prst="rect">
            <a:avLst/>
          </a:prstGeom>
        </p:spPr>
        <p:txBody>
          <a:bodyPr lIns="0" tIns="0" rIns="0" bIns="0" rtlCol="0" anchor="t">
            <a:spAutoFit/>
          </a:bodyPr>
          <a:lstStyle/>
          <a:p>
            <a:pPr algn="l">
              <a:lnSpc>
                <a:spcPts val="1299"/>
              </a:lnSpc>
            </a:pPr>
            <a:r>
              <a:rPr lang="en-US" sz="900">
                <a:solidFill>
                  <a:srgbClr val="475569"/>
                </a:solidFill>
                <a:latin typeface="Helvetica World"/>
                <a:ea typeface="Helvetica World"/>
                <a:cs typeface="Helvetica World"/>
                <a:sym typeface="Helvetica World"/>
              </a:rPr>
              <a:t>XLV ve XLF pozitif ayrisan sektorler olarak 'defansif tampon' gorevini gormustur. Ozellikle sagligin 5 olayin 4'unde pozitif CAR uretmesi, bu sektorun kriz donemlerinde portfoy dengesini saglamadaki potansiyelini gostermektedir.</a:t>
            </a:r>
          </a:p>
        </p:txBody>
      </p:sp>
      <p:sp>
        <p:nvSpPr>
          <p:cNvPr id="21" name="TextBox 21"/>
          <p:cNvSpPr txBox="1"/>
          <p:nvPr/>
        </p:nvSpPr>
        <p:spPr>
          <a:xfrm>
            <a:off x="923201" y="6120422"/>
            <a:ext cx="5827871" cy="538286"/>
          </a:xfrm>
          <a:prstGeom prst="rect">
            <a:avLst/>
          </a:prstGeom>
        </p:spPr>
        <p:txBody>
          <a:bodyPr lIns="0" tIns="0" rIns="0" bIns="0" rtlCol="0" anchor="t">
            <a:spAutoFit/>
          </a:bodyPr>
          <a:lstStyle/>
          <a:p>
            <a:pPr algn="just">
              <a:lnSpc>
                <a:spcPts val="1299"/>
              </a:lnSpc>
            </a:pPr>
            <a:r>
              <a:rPr lang="en-US" sz="900" spc="10">
                <a:solidFill>
                  <a:srgbClr val="475569"/>
                </a:solidFill>
                <a:latin typeface="Helvetica World"/>
                <a:ea typeface="Helvetica World"/>
                <a:cs typeface="Helvetica World"/>
                <a:sym typeface="Helvetica World"/>
              </a:rPr>
              <a:t>Olay gunu civarinda volatilitedeki sicrama net gorunmektedir. 'Hangi yone gidecek' sorusundan once 'ne kadar sallanacak' sorusu daha guvenilir bir sinyaldir. Bu, VaR ve volatilite hedeflemesi gibi risk yonetim araclarinin degerini destekler.</a:t>
            </a:r>
          </a:p>
        </p:txBody>
      </p:sp>
      <p:sp>
        <p:nvSpPr>
          <p:cNvPr id="22" name="TextBox 22"/>
          <p:cNvSpPr txBox="1"/>
          <p:nvPr/>
        </p:nvSpPr>
        <p:spPr>
          <a:xfrm>
            <a:off x="923201" y="4964725"/>
            <a:ext cx="5827871" cy="538286"/>
          </a:xfrm>
          <a:prstGeom prst="rect">
            <a:avLst/>
          </a:prstGeom>
        </p:spPr>
        <p:txBody>
          <a:bodyPr lIns="0" tIns="0" rIns="0" bIns="0" rtlCol="0" anchor="t">
            <a:spAutoFit/>
          </a:bodyPr>
          <a:lstStyle/>
          <a:p>
            <a:pPr algn="just">
              <a:lnSpc>
                <a:spcPts val="1299"/>
              </a:lnSpc>
            </a:pPr>
            <a:r>
              <a:rPr lang="en-US" sz="900">
                <a:solidFill>
                  <a:srgbClr val="475569"/>
                </a:solidFill>
                <a:latin typeface="Helvetica World"/>
                <a:ea typeface="Helvetica World"/>
                <a:cs typeface="Helvetica World"/>
                <a:sym typeface="Helvetica World"/>
              </a:rPr>
              <a:t>Altinin her krizde otomatik olarak koruma sagladigi varsayimi bu verilerde dogrulanmiyor. Hedge stratejisi kurarken tek bir varliga degil, cesitlendirilmis araclara (dolar, kisa vadeli tahvil, opsiyonlar) bakmak daha sagliklidir.</a:t>
            </a:r>
          </a:p>
        </p:txBody>
      </p:sp>
      <p:sp>
        <p:nvSpPr>
          <p:cNvPr id="23" name="TextBox 23"/>
          <p:cNvSpPr txBox="1"/>
          <p:nvPr/>
        </p:nvSpPr>
        <p:spPr>
          <a:xfrm>
            <a:off x="923201" y="7530122"/>
            <a:ext cx="5827871" cy="703383"/>
          </a:xfrm>
          <a:prstGeom prst="rect">
            <a:avLst/>
          </a:prstGeom>
        </p:spPr>
        <p:txBody>
          <a:bodyPr lIns="0" tIns="0" rIns="0" bIns="0" rtlCol="0" anchor="t">
            <a:spAutoFit/>
          </a:bodyPr>
          <a:lstStyle/>
          <a:p>
            <a:pPr algn="just">
              <a:lnSpc>
                <a:spcPts val="1299"/>
              </a:lnSpc>
            </a:pPr>
            <a:r>
              <a:rPr lang="en-US" sz="900">
                <a:solidFill>
                  <a:srgbClr val="475569"/>
                </a:solidFill>
                <a:latin typeface="Helvetica World"/>
                <a:ea typeface="Helvetica World"/>
                <a:cs typeface="Helvetica World"/>
                <a:sym typeface="Helvetica World"/>
              </a:rPr>
              <a:t>Bu calismada 5 olay incelenmistir -- istatistiksel cikarim icin kucuk bir orneklem. Calismayi genisletip (ornegin son 40 yildaki 30+ makro olay) orneklem buyuklugunu artirmak, ekonomik olarak gordugunuz egilimin istatistiksel olarak da kanitlanmasini saglayabilir. Bu calismada gosterilen pilot bulgular, daha buyuk bir arastirmanin temelini olusturmaktadir.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1318</Words>
  <Application>Microsoft Office PowerPoint</Application>
  <PresentationFormat>Özel</PresentationFormat>
  <Paragraphs>108</Paragraphs>
  <Slides>9</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9</vt:i4>
      </vt:variant>
    </vt:vector>
  </HeadingPairs>
  <TitlesOfParts>
    <vt:vector size="16" baseType="lpstr">
      <vt:lpstr>Helvetica World</vt:lpstr>
      <vt:lpstr>Calibri</vt:lpstr>
      <vt:lpstr>Arimo</vt:lpstr>
      <vt:lpstr>Helvetica World Bold</vt:lpstr>
      <vt:lpstr>Helvetica World Bold Italics</vt:lpstr>
      <vt:lpstr>Arial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Sunum_SP500_Olay_Calismasi.pdf</dc:title>
  <cp:lastModifiedBy>berat ozkan</cp:lastModifiedBy>
  <cp:revision>5</cp:revision>
  <dcterms:created xsi:type="dcterms:W3CDTF">2006-08-16T00:00:00Z</dcterms:created>
  <dcterms:modified xsi:type="dcterms:W3CDTF">2026-04-28T07:36:22Z</dcterms:modified>
  <dc:identifier>DAHIHVCv9Lc</dc:identifier>
</cp:coreProperties>
</file>